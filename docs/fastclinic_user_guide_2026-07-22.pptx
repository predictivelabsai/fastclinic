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54864"/>
          </a:xfrm>
          <a:prstGeom prst="rect">
            <a:avLst/>
          </a:prstGeom>
          <a:solidFill>
            <a:srgbClr val="1F9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FastClinic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User Guide — Run Your Multi-Specialty Clinic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Modern clinical care, made personal.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General practice · surgical specialties · dental — one operations platform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D6E6F5"/>
                </a:solidFill>
              </a:rPr>
              <a:t>fastclinic.example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Get started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What FastClinic is — the operations cockpit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Sign in &amp; the 3-pane layout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The AI Copilot — just ask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Run the clinic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Treatments &amp; Specialties — the case-mix lens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Appointments &amp; booking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Patients &amp;nbsp;·&amp;nbsp; 7. Patient profile &amp;nbsp;·&amp;nbsp; 8. Clinical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Revenue &amp;nbsp;·&amp;nbsp; 10. Billing &amp; payments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Keep patients in the loop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Recalls Due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Lapsed Patients &amp;nbsp;·&amp;nbsp; 13. Post-Visit Follow-up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The Recall Loop — queue, send, measure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Reach &amp; connect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SMS &amp;nbsp;·&amp;nbsp; 16. Email &amp;nbsp;·&amp;nbsp; 17. AI Assistant &amp;nbsp;·&amp;nbsp; 18. Web Presence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Data &amp; Import — keep the records fresh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Run it every week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The weekly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 FastClinic is — the operations cockpit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FastClinic</a:t>
            </a:r>
            <a:r>
              <a:rPr sz="1400">
                <a:solidFill>
                  <a:srgbClr val="1B2733"/>
                </a:solidFill>
              </a:rPr>
              <a:t> runs the back office of a </a:t>
            </a:r>
            <a:r>
              <a:rPr b="1" sz="1400">
                <a:solidFill>
                  <a:srgbClr val="17568F"/>
                </a:solidFill>
              </a:rPr>
              <a:t>multi-specialty clinic</a:t>
            </a:r>
            <a:r>
              <a:rPr sz="1400">
                <a:solidFill>
                  <a:srgbClr val="1B2733"/>
                </a:solidFill>
              </a:rPr>
              <a:t> — general practice, surgical specialties (orthopaedics, ophthalmology, ENT, general surgery, gynaecology, urology and more) and dental care — in one workspace. The </a:t>
            </a:r>
            <a:r>
              <a:rPr b="1" sz="1400">
                <a:solidFill>
                  <a:srgbClr val="17568F"/>
                </a:solidFill>
              </a:rPr>
              <a:t>Overview</a:t>
            </a:r>
            <a:r>
              <a:rPr sz="1400">
                <a:solidFill>
                  <a:srgbClr val="1B2733"/>
                </a:solidFill>
              </a:rPr>
              <a:t> is your daily scorecard: active and total patients, recent visits, revenue and trends, all dated so you always know how fresh the picture is.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Everything the clinic runs on is here: the </a:t>
            </a:r>
            <a:r>
              <a:rPr b="1" sz="1400">
                <a:solidFill>
                  <a:srgbClr val="17568F"/>
                </a:solidFill>
              </a:rPr>
              <a:t>case mix and revenue</a:t>
            </a:r>
            <a:r>
              <a:rPr sz="1400">
                <a:solidFill>
                  <a:srgbClr val="1B2733"/>
                </a:solidFill>
              </a:rPr>
              <a:t> across every department, </a:t>
            </a:r>
            <a:r>
              <a:rPr b="1" sz="1400">
                <a:solidFill>
                  <a:srgbClr val="17568F"/>
                </a:solidFill>
              </a:rPr>
              <a:t>appointments</a:t>
            </a:r>
            <a:r>
              <a:rPr sz="1400">
                <a:solidFill>
                  <a:srgbClr val="1B2733"/>
                </a:solidFill>
              </a:rPr>
              <a:t> booked into real availability, </a:t>
            </a:r>
            <a:r>
              <a:rPr b="1" sz="1400">
                <a:solidFill>
                  <a:srgbClr val="17568F"/>
                </a:solidFill>
              </a:rPr>
              <a:t>billing</a:t>
            </a:r>
            <a:r>
              <a:rPr sz="1400">
                <a:solidFill>
                  <a:srgbClr val="1B2733"/>
                </a:solidFill>
              </a:rPr>
              <a:t> with a balanced ledger, and </a:t>
            </a:r>
            <a:r>
              <a:rPr b="1" sz="1400">
                <a:solidFill>
                  <a:srgbClr val="17568F"/>
                </a:solidFill>
              </a:rPr>
              <a:t>patient recall</a:t>
            </a:r>
            <a:r>
              <a:rPr sz="1400">
                <a:solidFill>
                  <a:srgbClr val="1B2733"/>
                </a:solidFill>
              </a:rPr>
              <a:t>. It's built for the whole operations team — reception, practice managers, and finance — not just clinicians.</a:t>
            </a:r>
          </a:p>
        </p:txBody>
      </p:sp>
      <p:pic>
        <p:nvPicPr>
          <p:cNvPr id="4" name="Picture 3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Sign in &amp; the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Open </a:t>
            </a:r>
            <a:r>
              <a:rPr b="1" sz="1400">
                <a:solidFill>
                  <a:srgbClr val="17568F"/>
                </a:solidFill>
              </a:rPr>
              <a:t>fastclinic.example</a:t>
            </a:r>
            <a:r>
              <a:rPr sz="1400">
                <a:solidFill>
                  <a:srgbClr val="1B2733"/>
                </a:solidFill>
              </a:rPr>
              <a:t> and sign in with your clinic login. The screen then has </a:t>
            </a:r>
            <a:r>
              <a:rPr b="1" sz="1400">
                <a:solidFill>
                  <a:srgbClr val="17568F"/>
                </a:solidFill>
              </a:rPr>
              <a:t>three panes</a:t>
            </a:r>
            <a:r>
              <a:rPr sz="1400">
                <a:solidFill>
                  <a:srgbClr val="1B2733"/>
                </a:solidFill>
              </a:rPr>
              <a:t> that stay consistent everywhere: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Left</a:t>
            </a:r>
            <a:r>
              <a:rPr sz="1400">
                <a:solidFill>
                  <a:srgbClr val="1B2733"/>
                </a:solidFill>
              </a:rPr>
              <a:t> — navigation, grouped by job: </a:t>
            </a:r>
            <a:r>
              <a:rPr i="1" sz="1400">
                <a:solidFill>
                  <a:srgbClr val="1B2733"/>
                </a:solidFill>
              </a:rPr>
              <a:t>Overview · Operations · Recall &amp; Scheduling · Communications · Admin</a:t>
            </a:r>
            <a:r>
              <a:rPr sz="1400">
                <a:solidFill>
                  <a:srgbClr val="1B2733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Centre</a:t>
            </a:r>
            <a:r>
              <a:rPr sz="1400">
                <a:solidFill>
                  <a:srgbClr val="1B2733"/>
                </a:solidFill>
              </a:rPr>
              <a:t> — the workspace: lists, tables, charts and forms.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Right</a:t>
            </a:r>
            <a:r>
              <a:rPr sz="1400">
                <a:solidFill>
                  <a:srgbClr val="1B2733"/>
                </a:solidFill>
              </a:rPr>
              <a:t> — the </a:t>
            </a:r>
            <a:r>
              <a:rPr b="1" sz="1400">
                <a:solidFill>
                  <a:srgbClr val="17568F"/>
                </a:solidFill>
              </a:rPr>
              <a:t>AI Copilot</a:t>
            </a:r>
            <a:r>
              <a:rPr sz="1400">
                <a:solidFill>
                  <a:srgbClr val="1B2733"/>
                </a:solidFill>
              </a:rPr>
              <a:t>, always on hand to answer questions about your clinic. It can be collapsed to give the workspace more room.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Everything is server-rendered and fast; if you can read a list and press a button, you can run the clinic from here.</a:t>
            </a:r>
          </a:p>
        </p:txBody>
      </p:sp>
      <p:pic>
        <p:nvPicPr>
          <p:cNvPr id="4" name="Picture 3" descr="00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AI Copilot — just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The </a:t>
            </a:r>
            <a:r>
              <a:rPr b="1" sz="1400">
                <a:solidFill>
                  <a:srgbClr val="17568F"/>
                </a:solidFill>
              </a:rPr>
              <a:t>Copilot</a:t>
            </a:r>
            <a:r>
              <a:rPr sz="1400">
                <a:solidFill>
                  <a:srgbClr val="1B2733"/>
                </a:solidFill>
              </a:rPr>
              <a:t> on the right turns plain questions into answers from your live data. Ask </a:t>
            </a:r>
            <a:r>
              <a:rPr i="1" sz="1400">
                <a:solidFill>
                  <a:srgbClr val="1B2733"/>
                </a:solidFill>
              </a:rPr>
              <a:t>"Which specialties bring in the most revenue?"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i="1" sz="1400">
                <a:solidFill>
                  <a:srgbClr val="1B2733"/>
                </a:solidFill>
              </a:rPr>
              <a:t>"How many surgical cases this month?"</a:t>
            </a:r>
            <a:r>
              <a:rPr sz="1400">
                <a:solidFill>
                  <a:srgbClr val="1B2733"/>
                </a:solidFill>
              </a:rPr>
              <a:t> or </a:t>
            </a:r>
            <a:r>
              <a:rPr i="1" sz="1400">
                <a:solidFill>
                  <a:srgbClr val="1B2733"/>
                </a:solidFill>
              </a:rPr>
              <a:t>"Which patients are due for recall?"</a:t>
            </a:r>
            <a:r>
              <a:rPr sz="1400">
                <a:solidFill>
                  <a:srgbClr val="1B2733"/>
                </a:solidFill>
              </a:rPr>
              <a:t> and it replies with a ready-to-read table.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Power users can type </a:t>
            </a:r>
            <a:r>
              <a:rPr b="1" sz="1400">
                <a:solidFill>
                  <a:srgbClr val="17568F"/>
                </a:solidFill>
              </a:rPr>
              <a:t>slash-commands</a:t>
            </a:r>
            <a:r>
              <a:rPr sz="1400">
                <a:solidFill>
                  <a:srgbClr val="1B2733"/>
                </a:solidFill>
              </a:rPr>
              <a:t> for instant results — </a:t>
            </a:r>
            <a:r>
              <a:rPr sz="1400">
                <a:solidFill>
                  <a:srgbClr val="17568F"/>
                </a:solidFill>
                <a:latin typeface="Consolas"/>
              </a:rPr>
              <a:t>/kpi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/due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/lapsed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/followup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/revenue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sz="1400">
                <a:solidFill>
                  <a:srgbClr val="17568F"/>
                </a:solidFill>
                <a:latin typeface="Consolas"/>
              </a:rPr>
              <a:t>/patient 1206</a:t>
            </a:r>
            <a:r>
              <a:rPr sz="1400">
                <a:solidFill>
                  <a:srgbClr val="1B2733"/>
                </a:solidFill>
              </a:rPr>
              <a:t>. The suggested questions under the box are a good starting point.</a:t>
            </a:r>
          </a:p>
        </p:txBody>
      </p:sp>
      <p:pic>
        <p:nvPicPr>
          <p:cNvPr id="4" name="Picture 3" descr="02-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Treatments &amp; Specialties — the case-mix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This is the operations heart of the platform. Every treatment is classified on two axes — </a:t>
            </a:r>
            <a:r>
              <a:rPr i="1" sz="1400">
                <a:solidFill>
                  <a:srgbClr val="1B2733"/>
                </a:solidFill>
              </a:rPr>
              <a:t>what</a:t>
            </a:r>
            <a:r>
              <a:rPr sz="1400">
                <a:solidFill>
                  <a:srgbClr val="1B2733"/>
                </a:solidFill>
              </a:rPr>
              <a:t> it is (consultation, </a:t>
            </a:r>
            <a:r>
              <a:rPr b="1" sz="1400">
                <a:solidFill>
                  <a:srgbClr val="17568F"/>
                </a:solidFill>
              </a:rPr>
              <a:t>surgery</a:t>
            </a:r>
            <a:r>
              <a:rPr sz="1400">
                <a:solidFill>
                  <a:srgbClr val="1B2733"/>
                </a:solidFill>
              </a:rPr>
              <a:t>, </a:t>
            </a:r>
            <a:r>
              <a:rPr b="1" sz="1400">
                <a:solidFill>
                  <a:srgbClr val="17568F"/>
                </a:solidFill>
              </a:rPr>
              <a:t>dental</a:t>
            </a:r>
            <a:r>
              <a:rPr sz="1400">
                <a:solidFill>
                  <a:srgbClr val="1B2733"/>
                </a:solidFill>
              </a:rPr>
              <a:t>, diagnostic, procedure…) and </a:t>
            </a:r>
            <a:r>
              <a:rPr i="1" sz="1400">
                <a:solidFill>
                  <a:srgbClr val="1B2733"/>
                </a:solidFill>
              </a:rPr>
              <a:t>which specialty</a:t>
            </a:r>
            <a:r>
              <a:rPr sz="1400">
                <a:solidFill>
                  <a:srgbClr val="1B2733"/>
                </a:solidFill>
              </a:rPr>
              <a:t> delivered it — so you can see the whole clinic at a glance: </a:t>
            </a:r>
            <a:r>
              <a:rPr b="1" sz="1400">
                <a:solidFill>
                  <a:srgbClr val="17568F"/>
                </a:solidFill>
              </a:rPr>
              <a:t>revenue and case volume across every department</a:t>
            </a:r>
            <a:r>
              <a:rPr sz="1400">
                <a:solidFill>
                  <a:srgbClr val="1B2733"/>
                </a:solidFill>
              </a:rPr>
              <a:t>, surgical throughput, and the </a:t>
            </a:r>
            <a:r>
              <a:rPr b="1" sz="1400">
                <a:solidFill>
                  <a:srgbClr val="17568F"/>
                </a:solidFill>
              </a:rPr>
              <a:t>top procedures</a:t>
            </a:r>
            <a:r>
              <a:rPr sz="1400">
                <a:solidFill>
                  <a:srgbClr val="1B2733"/>
                </a:solidFill>
              </a:rPr>
              <a:t> driving income.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Use it to understand where the work and the money are — which specialties are growing, how much surgical and dental activity you're doing, and which procedures matter most. It's the view a practice manager opens first.</a:t>
            </a:r>
          </a:p>
        </p:txBody>
      </p:sp>
      <p:pic>
        <p:nvPicPr>
          <p:cNvPr id="4" name="Picture 3" descr="18-trea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Appointments &amp;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Book patients into </a:t>
            </a:r>
            <a:r>
              <a:rPr b="1" sz="1400">
                <a:solidFill>
                  <a:srgbClr val="17568F"/>
                </a:solidFill>
              </a:rPr>
              <a:t>real availability</a:t>
            </a:r>
            <a:r>
              <a:rPr sz="1400">
                <a:solidFill>
                  <a:srgbClr val="1B2733"/>
                </a:solidFill>
              </a:rPr>
              <a:t>. Pick a clinician and day and the schedule shows every slot, free or taken. Booking checks for conflicts, so a clinician can </a:t>
            </a:r>
            <a:r>
              <a:rPr b="1" sz="1400">
                <a:solidFill>
                  <a:srgbClr val="17568F"/>
                </a:solidFill>
              </a:rPr>
              <a:t>never be double-booked</a:t>
            </a:r>
            <a:r>
              <a:rPr sz="1400">
                <a:solidFill>
                  <a:srgbClr val="1B2733"/>
                </a:solidFill>
              </a:rPr>
              <a:t>; the same time on another clinician is still free. Confirm or cancel with one click, and every booking automatically queues a reminder the day before.</a:t>
            </a:r>
          </a:p>
        </p:txBody>
      </p:sp>
      <p:pic>
        <p:nvPicPr>
          <p:cNvPr id="4" name="Picture 3" descr="07-appoin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A fast, searchable list of the whole patient base — search by name, town, or NHS number. Each row shows visits, last-seen date and lifetime value, so the people who matter most are easy to find. Click any patient to open their profile.</a:t>
            </a:r>
          </a:p>
        </p:txBody>
      </p:sp>
      <p:pic>
        <p:nvPicPr>
          <p:cNvPr id="4" name="Picture 3" descr="08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Patient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A single view of one patient: demographics and contact, lifetime value and visit count, the full consultation history across every specialty they've seen, and recent billed items — everything the team needs before a call or a visit.</a:t>
            </a:r>
          </a:p>
        </p:txBody>
      </p:sp>
      <p:pic>
        <p:nvPicPr>
          <p:cNvPr id="4" name="Picture 3" descr="09-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Clinical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The clinical picture across the practice: the most common diagnoses and a breakdown of activity by clinician. Useful for spotting trends, planning services, and understanding where the clinical workload sits.</a:t>
            </a:r>
          </a:p>
        </p:txBody>
      </p:sp>
      <p:pic>
        <p:nvPicPr>
          <p:cNvPr id="4" name="Picture 3" descr="10-cli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Where the money comes from: revenue by service category and the monthly trend. See at a glance which kinds of work drive income and how the clinic is tracking over time — the financial companion to the Treatments &amp; Specialties view.</a:t>
            </a:r>
          </a:p>
        </p:txBody>
      </p:sp>
      <p:pic>
        <p:nvPicPr>
          <p:cNvPr id="4" name="Picture 3" descr="11-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Billing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Raise </a:t>
            </a:r>
            <a:r>
              <a:rPr b="1" sz="1400">
                <a:solidFill>
                  <a:srgbClr val="17568F"/>
                </a:solidFill>
              </a:rPr>
              <a:t>fee invoices</a:t>
            </a:r>
            <a:r>
              <a:rPr sz="1400">
                <a:solidFill>
                  <a:srgbClr val="1B2733"/>
                </a:solidFill>
              </a:rPr>
              <a:t> against consultations — from a routine GP visit to a high-value surgical case — record </a:t>
            </a:r>
            <a:r>
              <a:rPr b="1" sz="1400">
                <a:solidFill>
                  <a:srgbClr val="17568F"/>
                </a:solidFill>
              </a:rPr>
              <a:t>part or full payments</a:t>
            </a:r>
            <a:r>
              <a:rPr sz="1400">
                <a:solidFill>
                  <a:srgbClr val="1B2733"/>
                </a:solidFill>
              </a:rPr>
              <a:t>, and watch the numbers stay honest: a live </a:t>
            </a:r>
            <a:r>
              <a:rPr b="1" sz="1400">
                <a:solidFill>
                  <a:srgbClr val="17568F"/>
                </a:solidFill>
              </a:rPr>
              <a:t>balanced ledger</a:t>
            </a:r>
            <a:r>
              <a:rPr sz="1400">
                <a:solidFill>
                  <a:srgbClr val="1B2733"/>
                </a:solidFill>
              </a:rPr>
              <a:t> underneath means every pound billed and collected is accounted for. Because the payer is tracked separately from the patient, a parent's invoice for a child — or an insurer's — is handled naturally.</a:t>
            </a:r>
          </a:p>
        </p:txBody>
      </p:sp>
      <p:pic>
        <p:nvPicPr>
          <p:cNvPr id="4" name="Picture 3" descr="12-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Recalls 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Recall keeps patients on track. This engine surfaces </a:t>
            </a:r>
            <a:r>
              <a:rPr b="1" sz="1400">
                <a:solidFill>
                  <a:srgbClr val="17568F"/>
                </a:solidFill>
              </a:rPr>
              <a:t>exactly who is due or overdue</a:t>
            </a:r>
            <a:r>
              <a:rPr sz="1400">
                <a:solidFill>
                  <a:srgbClr val="1B2733"/>
                </a:solidFill>
              </a:rPr>
              <a:t> for a recurring service — childhood and adult immunisations, annual health checks, and repeat-prescription reviews — ranked most-overdue first.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Recall intervals are </a:t>
            </a:r>
            <a:r>
              <a:rPr b="1" sz="1400">
                <a:solidFill>
                  <a:srgbClr val="17568F"/>
                </a:solidFill>
              </a:rPr>
              <a:t>age- and cohort-aware</a:t>
            </a:r>
            <a:r>
              <a:rPr sz="1400">
                <a:solidFill>
                  <a:srgbClr val="1B2733"/>
                </a:solidFill>
              </a:rPr>
              <a:t>: a flu booster for an over-65, a childhood immunisation, and a medication review each follow their own schedule. Each row comes with a drafted message, ready to send or export.</a:t>
            </a:r>
          </a:p>
        </p:txBody>
      </p:sp>
      <p:pic>
        <p:nvPicPr>
          <p:cNvPr id="4" name="Picture 3" descr="03-remi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Lapsed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Good patients drift away quietly. </a:t>
            </a:r>
            <a:r>
              <a:rPr b="1" sz="1400">
                <a:solidFill>
                  <a:srgbClr val="17568F"/>
                </a:solidFill>
              </a:rPr>
              <a:t>Lapsed Patients</a:t>
            </a:r>
            <a:r>
              <a:rPr sz="1400">
                <a:solidFill>
                  <a:srgbClr val="1B2733"/>
                </a:solidFill>
              </a:rPr>
              <a:t> lists everyone with no visit in the last </a:t>
            </a:r>
            <a:r>
              <a:rPr i="1" sz="1400">
                <a:solidFill>
                  <a:srgbClr val="1B2733"/>
                </a:solidFill>
              </a:rPr>
              <a:t>N</a:t>
            </a:r>
            <a:r>
              <a:rPr sz="1400">
                <a:solidFill>
                  <a:srgbClr val="1B2733"/>
                </a:solidFill>
              </a:rPr>
              <a:t> months, ranked by lifetime value so you re-engage the most valuable relationships first. Adjust the window (6 / 12 / 24 months) to widen or tighten the net.</a:t>
            </a:r>
          </a:p>
        </p:txBody>
      </p:sp>
      <p:pic>
        <p:nvPicPr>
          <p:cNvPr id="4" name="Picture 3" descr="04-lap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Post-Visit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Care doesn't end when the patient leaves. </a:t>
            </a:r>
            <a:r>
              <a:rPr b="1" sz="1400">
                <a:solidFill>
                  <a:srgbClr val="17568F"/>
                </a:solidFill>
              </a:rPr>
              <a:t>Post-Visit Follow-up</a:t>
            </a:r>
            <a:r>
              <a:rPr sz="1400">
                <a:solidFill>
                  <a:srgbClr val="1B2733"/>
                </a:solidFill>
              </a:rPr>
              <a:t> lists recent visits — including post-operative reviews — so you can check on recovery, prompt a review, or rebook within a window you choose (7 / 14 / 30 / 60 days).</a:t>
            </a:r>
          </a:p>
        </p:txBody>
      </p:sp>
      <p:pic>
        <p:nvPicPr>
          <p:cNvPr id="4" name="Picture 3" descr="05-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Recall Loop — queue, send,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This closes the loop. </a:t>
            </a:r>
            <a:r>
              <a:rPr b="1" sz="1400">
                <a:solidFill>
                  <a:srgbClr val="17568F"/>
                </a:solidFill>
              </a:rPr>
              <a:t>Queue due reminders</a:t>
            </a:r>
            <a:r>
              <a:rPr sz="1400">
                <a:solidFill>
                  <a:srgbClr val="1B2733"/>
                </a:solidFill>
              </a:rPr>
              <a:t> turns the recall lists into tracked reminders. Every message you then send is </a:t>
            </a:r>
            <a:r>
              <a:rPr b="1" sz="1400">
                <a:solidFill>
                  <a:srgbClr val="17568F"/>
                </a:solidFill>
              </a:rPr>
              <a:t>logged</a:t>
            </a:r>
            <a:r>
              <a:rPr sz="1400">
                <a:solidFill>
                  <a:srgbClr val="1B2733"/>
                </a:solidFill>
              </a:rPr>
              <a:t> — sent, failed, or </a:t>
            </a:r>
            <a:r>
              <a:rPr b="1" sz="1400">
                <a:solidFill>
                  <a:srgbClr val="17568F"/>
                </a:solidFill>
              </a:rPr>
              <a:t>blocked because the patient opted out</a:t>
            </a:r>
            <a:r>
              <a:rPr sz="1400">
                <a:solidFill>
                  <a:srgbClr val="1B2733"/>
                </a:solidFill>
              </a:rPr>
              <a:t> — so nobody is contacted twice and consent is always respected. The scorecard tracks pending reminders, messages sent, blocked contacts, and the </a:t>
            </a:r>
            <a:r>
              <a:rPr b="1" sz="1400">
                <a:solidFill>
                  <a:srgbClr val="17568F"/>
                </a:solidFill>
              </a:rPr>
              <a:t>return rate</a:t>
            </a:r>
            <a:r>
              <a:rPr sz="1400">
                <a:solidFill>
                  <a:srgbClr val="1B2733"/>
                </a:solidFill>
              </a:rPr>
              <a:t>: how many contacted patients came back within 30 days.</a:t>
            </a:r>
          </a:p>
        </p:txBody>
      </p:sp>
      <p:pic>
        <p:nvPicPr>
          <p:cNvPr id="4" name="Picture 3" descr="06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SMS &amp; Email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Send reminders through your SMS or email provider. Paste a drafted message from any recall list, or write your own. Opted-out patients are </a:t>
            </a:r>
            <a:r>
              <a:rPr b="1" sz="1400">
                <a:solidFill>
                  <a:srgbClr val="17568F"/>
                </a:solidFill>
              </a:rPr>
              <a:t>automatically suppressed</a:t>
            </a:r>
            <a:r>
              <a:rPr sz="1400">
                <a:solidFill>
                  <a:srgbClr val="1B2733"/>
                </a:solidFill>
              </a:rPr>
              <a:t> at the point of sending, so a message never reaches someone who has asked not to be contacted.</a:t>
            </a:r>
          </a:p>
        </p:txBody>
      </p:sp>
      <p:pic>
        <p:nvPicPr>
          <p:cNvPr id="4" name="Picture 3" descr="13-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A full-page version of the Copilot for deeper questions. Ask about specialties, revenue, scheduling or recall in plain language and get answers grounded in your live data — a knowledgeable colleague who has read every record.</a:t>
            </a:r>
          </a:p>
        </p:txBody>
      </p:sp>
      <p:pic>
        <p:nvPicPr>
          <p:cNvPr id="4" name="Picture 3" descr="15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Web Presence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Grow the </a:t>
            </a:r>
            <a:r>
              <a:rPr i="1" sz="1400">
                <a:solidFill>
                  <a:srgbClr val="1B2733"/>
                </a:solidFill>
              </a:rPr>
              <a:t>top</a:t>
            </a:r>
            <a:r>
              <a:rPr sz="1400">
                <a:solidFill>
                  <a:srgbClr val="1B2733"/>
                </a:solidFill>
              </a:rPr>
              <a:t> of the funnel too. The audit suite checks how well your clinic shows up in search and in AI answer engines, and writes dated reports you can act on — so new patients can find you as easily as existing ones come back.</a:t>
            </a:r>
          </a:p>
        </p:txBody>
      </p:sp>
      <p:pic>
        <p:nvPicPr>
          <p:cNvPr id="4" name="Picture 3" descr="16-s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Data &amp; Import — keep the records fresh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FastClinic works from your practice-management export. This page shows what's loaded — patients, contacts, consultations and more — and how to refresh it when a new export arrives. When contact details are included, recall lists are ready to send.</a:t>
            </a:r>
          </a:p>
        </p:txBody>
      </p:sp>
      <p:pic>
        <p:nvPicPr>
          <p:cNvPr id="4" name="Picture 3" descr="17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weekly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A simple weekly rhythm keeps the clinic running well: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See.</a:t>
            </a:r>
            <a:r>
              <a:rPr sz="1400">
                <a:solidFill>
                  <a:srgbClr val="1B2733"/>
                </a:solidFill>
              </a:rPr>
              <a:t> Open the Overview, then </a:t>
            </a:r>
            <a:r>
              <a:rPr b="1" sz="1400">
                <a:solidFill>
                  <a:srgbClr val="17568F"/>
                </a:solidFill>
              </a:rPr>
              <a:t>Treatments &amp; Specialties</a:t>
            </a:r>
            <a:r>
              <a:rPr sz="1400">
                <a:solidFill>
                  <a:srgbClr val="1B2733"/>
                </a:solidFill>
              </a:rPr>
              <a:t> for the week's case mix and revenue by department.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Schedule.</a:t>
            </a:r>
            <a:r>
              <a:rPr sz="1400">
                <a:solidFill>
                  <a:srgbClr val="1B2733"/>
                </a:solidFill>
              </a:rPr>
              <a:t> Work the Appointments board — fill slots, confirm bookings, keep surgical lists moving.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Bill.</a:t>
            </a:r>
            <a:r>
              <a:rPr sz="1400">
                <a:solidFill>
                  <a:srgbClr val="1B2733"/>
                </a:solidFill>
              </a:rPr>
              <a:t> Raise invoices for the week's work and record payments; the ledger keeps itself balanced.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Recall.</a:t>
            </a:r>
            <a:r>
              <a:rPr sz="1400">
                <a:solidFill>
                  <a:srgbClr val="1B2733"/>
                </a:solidFill>
              </a:rPr>
              <a:t> Queue due reminders on the Recall Loop, review the drafted messages, and send — opted-out patients are handled for you.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B2733"/>
                </a:solidFill>
              </a:rPr>
              <a:t>• </a:t>
            </a:r>
            <a:r>
              <a:rPr b="1" sz="1400">
                <a:solidFill>
                  <a:srgbClr val="17568F"/>
                </a:solidFill>
              </a:rPr>
              <a:t>Measure.</a:t>
            </a:r>
            <a:r>
              <a:rPr sz="1400">
                <a:solidFill>
                  <a:srgbClr val="1B2733"/>
                </a:solidFill>
              </a:rPr>
              <a:t> Check the Recall Loop's </a:t>
            </a:r>
            <a:r>
              <a:rPr b="1" sz="1400">
                <a:solidFill>
                  <a:srgbClr val="17568F"/>
                </a:solidFill>
              </a:rPr>
              <a:t>return rate</a:t>
            </a:r>
            <a:r>
              <a:rPr sz="1400">
                <a:solidFill>
                  <a:srgbClr val="1B2733"/>
                </a:solidFill>
              </a:rPr>
              <a:t> and the Overview's active- patient and revenue trends.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568F"/>
                </a:solidFill>
              </a:rPr>
              <a:t>The one question FastClinic answers every day:</a:t>
            </a:r>
            <a:r>
              <a:rPr sz="1400">
                <a:solidFill>
                  <a:srgbClr val="1B2733"/>
                </a:solidFill>
              </a:rPr>
              <a:t> </a:t>
            </a:r>
            <a:r>
              <a:rPr i="1" sz="1400">
                <a:solidFill>
                  <a:srgbClr val="1B2733"/>
                </a:solidFill>
              </a:rPr>
              <a:t>"How is the clinic running across every specialty — and what needs attention today?"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FastClinic · Modern clinical care, made personal · fastclinic.example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