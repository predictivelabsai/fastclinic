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1F9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FastClinic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User Guide — Run, Grow &amp; Activate Your Practice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Modern primary care, made personal.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A patient-activation &amp; operations cockpit for GP / general practice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fastclinic.example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Get started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What FastClinic is &amp; how it grows your practice — </a:t>
            </a:r>
            <a:r>
              <a:rPr i="1" sz="1400">
                <a:solidFill>
                  <a:srgbClr val="1B2733"/>
                </a:solidFill>
              </a:rPr>
              <a:t>the Overview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Sign in &amp; the 3-pane layout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AI Copilot — just ask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Activate — bring patients back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Immunisation &amp; Plan Due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Lapsed Reactivation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Post-Visit Follow-up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Activation Loop — queue, send, measure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Run the clinic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Appointments &amp; booking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Patients &amp;nbsp;·&amp;nbsp; 10. Patient profile &amp;nbsp;·&amp;nbsp; 11. Clinical &amp;nbsp;·&amp;nbsp; 12. Revenue &amp;nbsp;·&amp;nbsp; 13. Billing &amp; payments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Reach &amp; connect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SMS Broadcaster &amp;nbsp;·&amp;nbsp; 15. Email Broadcaster &amp;nbsp;·&amp;nbsp; 16. AI Assistant &amp;nbsp;·&amp;nbsp; 17. SEO / GEO Audit &amp;nbsp;·&amp;nbsp; 18. Data &amp; Import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Run it every week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weekly playbook &amp; measuring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FastClinic is &amp; how it grows your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FastClinic</a:t>
            </a:r>
            <a:r>
              <a:rPr sz="1400">
                <a:solidFill>
                  <a:srgbClr val="1B2733"/>
                </a:solidFill>
              </a:rPr>
              <a:t> is an all-in-one workspace for a GP practice: a place to see the whole clinic at a glance </a:t>
            </a:r>
            <a:r>
              <a:rPr i="1" sz="1400">
                <a:solidFill>
                  <a:srgbClr val="1B2733"/>
                </a:solidFill>
              </a:rPr>
              <a:t>and</a:t>
            </a:r>
            <a:r>
              <a:rPr sz="1400">
                <a:solidFill>
                  <a:srgbClr val="1B2733"/>
                </a:solidFill>
              </a:rPr>
              <a:t> an activation engine that turns your own visit history into more booked appointments and revenue. The </a:t>
            </a:r>
            <a:r>
              <a:rPr b="1" sz="1400">
                <a:solidFill>
                  <a:srgbClr val="17568F"/>
                </a:solidFill>
              </a:rPr>
              <a:t>Overview</a:t>
            </a:r>
            <a:r>
              <a:rPr sz="1400">
                <a:solidFill>
                  <a:srgbClr val="1B2733"/>
                </a:solidFill>
              </a:rPr>
              <a:t> is your weekly scorecard — active and total patients, recent visits, revenue and trends, all dated so you always know how fresh the picture 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It runs a simple, repeatable </a:t>
            </a:r>
            <a:r>
              <a:rPr b="1" sz="1400">
                <a:solidFill>
                  <a:srgbClr val="17568F"/>
                </a:solidFill>
              </a:rPr>
              <a:t>activation loop</a:t>
            </a:r>
            <a:r>
              <a:rPr sz="1400">
                <a:solidFill>
                  <a:srgbClr val="1B2733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See</a:t>
            </a:r>
            <a:r>
              <a:rPr sz="1400">
                <a:solidFill>
                  <a:srgbClr val="1B2733"/>
                </a:solidFill>
              </a:rPr>
              <a:t> — the cockpit ranks who is due, lapsed, or recently seen.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Reach</a:t>
            </a:r>
            <a:r>
              <a:rPr sz="1400">
                <a:solidFill>
                  <a:srgbClr val="1B2733"/>
                </a:solidFill>
              </a:rPr>
              <a:t> — a message is drafted for you; you review and send by SMS or email.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Book</a:t>
            </a:r>
            <a:r>
              <a:rPr sz="1400">
                <a:solidFill>
                  <a:srgbClr val="1B2733"/>
                </a:solidFill>
              </a:rPr>
              <a:t> — patients return for the immunisation, health check, or review.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Measure</a:t>
            </a:r>
            <a:r>
              <a:rPr sz="1400">
                <a:solidFill>
                  <a:srgbClr val="1B2733"/>
                </a:solidFill>
              </a:rPr>
              <a:t> — return visits are attributed back, so you see what worked.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Recurring care is predictable: every patient you re-activate becomes due again next year, so a steady weekly cadence compounds into a growing, healthier list.</a:t>
            </a:r>
          </a:p>
        </p:txBody>
      </p:sp>
      <p:pic>
        <p:nvPicPr>
          <p:cNvPr id="4" name="Picture 3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Sign in &amp; the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Open </a:t>
            </a:r>
            <a:r>
              <a:rPr b="1" sz="1400">
                <a:solidFill>
                  <a:srgbClr val="17568F"/>
                </a:solidFill>
              </a:rPr>
              <a:t>fastclinic.example</a:t>
            </a:r>
            <a:r>
              <a:rPr sz="1400">
                <a:solidFill>
                  <a:srgbClr val="1B2733"/>
                </a:solidFill>
              </a:rPr>
              <a:t> and sign in with your practice login. The screen then has </a:t>
            </a:r>
            <a:r>
              <a:rPr b="1" sz="1400">
                <a:solidFill>
                  <a:srgbClr val="17568F"/>
                </a:solidFill>
              </a:rPr>
              <a:t>three panes</a:t>
            </a:r>
            <a:r>
              <a:rPr sz="1400">
                <a:solidFill>
                  <a:srgbClr val="1B2733"/>
                </a:solidFill>
              </a:rPr>
              <a:t> that stay consistent everywhere: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Left</a:t>
            </a:r>
            <a:r>
              <a:rPr sz="1400">
                <a:solidFill>
                  <a:srgbClr val="1B2733"/>
                </a:solidFill>
              </a:rPr>
              <a:t> — navigation, grouped by job: </a:t>
            </a:r>
            <a:r>
              <a:rPr i="1" sz="1400">
                <a:solidFill>
                  <a:srgbClr val="1B2733"/>
                </a:solidFill>
              </a:rPr>
              <a:t>Overview · Activation · Clinic · Marketing · Help · Admin</a:t>
            </a:r>
            <a:r>
              <a:rPr sz="1400">
                <a:solidFill>
                  <a:srgbClr val="1B2733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Centre</a:t>
            </a:r>
            <a:r>
              <a:rPr sz="1400">
                <a:solidFill>
                  <a:srgbClr val="1B2733"/>
                </a:solidFill>
              </a:rPr>
              <a:t> — the workspace: lists, tables, charts and forms.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Right</a:t>
            </a:r>
            <a:r>
              <a:rPr sz="1400">
                <a:solidFill>
                  <a:srgbClr val="1B2733"/>
                </a:solidFill>
              </a:rPr>
              <a:t> — the </a:t>
            </a:r>
            <a:r>
              <a:rPr b="1" sz="1400">
                <a:solidFill>
                  <a:srgbClr val="17568F"/>
                </a:solidFill>
              </a:rPr>
              <a:t>AI Copilot</a:t>
            </a:r>
            <a:r>
              <a:rPr sz="1400">
                <a:solidFill>
                  <a:srgbClr val="1B2733"/>
                </a:solidFill>
              </a:rPr>
              <a:t>, always on hand to answer questions about your data. It can be collapsed to give the workspace more room.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Everything is server-rendered and fast; if you can read a list and press a button, you can run the whole clinic from here.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Your data stays private.</a:t>
            </a:r>
            <a:r>
              <a:rPr sz="1400">
                <a:solidFill>
                  <a:srgbClr val="1B2733"/>
                </a:solidFill>
              </a:rPr>
              <a:t> FastClinic reads your practice's own records and never contacts a patient without you pressing send.</a:t>
            </a:r>
          </a:p>
        </p:txBody>
      </p:sp>
      <p:pic>
        <p:nvPicPr>
          <p:cNvPr id="4" name="Picture 3" descr="00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AI Copilot — just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</a:t>
            </a:r>
            <a:r>
              <a:rPr b="1" sz="1400">
                <a:solidFill>
                  <a:srgbClr val="17568F"/>
                </a:solidFill>
              </a:rPr>
              <a:t>Copilot</a:t>
            </a:r>
            <a:r>
              <a:rPr sz="1400">
                <a:solidFill>
                  <a:srgbClr val="1B2733"/>
                </a:solidFill>
              </a:rPr>
              <a:t> on the right turns plain questions into answers from your live data. Ask </a:t>
            </a:r>
            <a:r>
              <a:rPr i="1" sz="1400">
                <a:solidFill>
                  <a:srgbClr val="1B2733"/>
                </a:solidFill>
              </a:rPr>
              <a:t>"Which patients are overdue for immunisations?"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i="1" sz="1400">
                <a:solidFill>
                  <a:srgbClr val="1B2733"/>
                </a:solidFill>
              </a:rPr>
              <a:t>"Who should we win back this month?"</a:t>
            </a:r>
            <a:r>
              <a:rPr sz="1400">
                <a:solidFill>
                  <a:srgbClr val="1B2733"/>
                </a:solidFill>
              </a:rPr>
              <a:t> or </a:t>
            </a:r>
            <a:r>
              <a:rPr i="1" sz="1400">
                <a:solidFill>
                  <a:srgbClr val="1B2733"/>
                </a:solidFill>
              </a:rPr>
              <a:t>"How is the clinic performing?"</a:t>
            </a:r>
            <a:r>
              <a:rPr sz="1400">
                <a:solidFill>
                  <a:srgbClr val="1B2733"/>
                </a:solidFill>
              </a:rPr>
              <a:t> and it replies with a ready-to-read table.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Power users can type </a:t>
            </a:r>
            <a:r>
              <a:rPr b="1" sz="1400">
                <a:solidFill>
                  <a:srgbClr val="17568F"/>
                </a:solidFill>
              </a:rPr>
              <a:t>slash-commands</a:t>
            </a:r>
            <a:r>
              <a:rPr sz="1400">
                <a:solidFill>
                  <a:srgbClr val="1B2733"/>
                </a:solidFill>
              </a:rPr>
              <a:t> for instant results — </a:t>
            </a:r>
            <a:r>
              <a:rPr sz="1400">
                <a:solidFill>
                  <a:srgbClr val="17568F"/>
                </a:solidFill>
                <a:latin typeface="Consolas"/>
              </a:rPr>
              <a:t>/due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/lapsed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/followup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/revenue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/patient 1206</a:t>
            </a:r>
            <a:r>
              <a:rPr sz="1400">
                <a:solidFill>
                  <a:srgbClr val="1B2733"/>
                </a:solidFill>
              </a:rPr>
              <a:t> — no waiting, no clicks. The suggested questions under the box are a good starting point.</a:t>
            </a:r>
          </a:p>
        </p:txBody>
      </p:sp>
      <p:pic>
        <p:nvPicPr>
          <p:cNvPr id="4" name="Picture 3" descr="02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Immunisation &amp; Plan 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first activation engine surfaces </a:t>
            </a:r>
            <a:r>
              <a:rPr b="1" sz="1400">
                <a:solidFill>
                  <a:srgbClr val="17568F"/>
                </a:solidFill>
              </a:rPr>
              <a:t>exactly who is due or overdue</a:t>
            </a:r>
            <a:r>
              <a:rPr sz="1400">
                <a:solidFill>
                  <a:srgbClr val="1B2733"/>
                </a:solidFill>
              </a:rPr>
              <a:t> for a recurring service — childhood and adult immunisations, annual health checks, and repeat-prescription reviews — ranked most-overdue first.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Recall intervals are </a:t>
            </a:r>
            <a:r>
              <a:rPr b="1" sz="1400">
                <a:solidFill>
                  <a:srgbClr val="17568F"/>
                </a:solidFill>
              </a:rPr>
              <a:t>age- and cohort-aware</a:t>
            </a:r>
            <a:r>
              <a:rPr sz="1400">
                <a:solidFill>
                  <a:srgbClr val="1B2733"/>
                </a:solidFill>
              </a:rPr>
              <a:t>: a flu booster for an over-65, a childhood immunisation, and a medication review each follow their own schedule rather than a one-size-fits-all rule. Each row comes with a drafted reminder message and can be exported or sent straight to the broadcaster.</a:t>
            </a:r>
          </a:p>
        </p:txBody>
      </p:sp>
      <p:pic>
        <p:nvPicPr>
          <p:cNvPr id="4" name="Picture 3" descr="03-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Lapsed Reactivation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Good patients drift away quietly. </a:t>
            </a:r>
            <a:r>
              <a:rPr b="1" sz="1400">
                <a:solidFill>
                  <a:srgbClr val="17568F"/>
                </a:solidFill>
              </a:rPr>
              <a:t>Lapsed Reactivation</a:t>
            </a:r>
            <a:r>
              <a:rPr sz="1400">
                <a:solidFill>
                  <a:srgbClr val="1B2733"/>
                </a:solidFill>
              </a:rPr>
              <a:t> lists everyone with no visit in the last </a:t>
            </a:r>
            <a:r>
              <a:rPr i="1" sz="1400">
                <a:solidFill>
                  <a:srgbClr val="1B2733"/>
                </a:solidFill>
              </a:rPr>
              <a:t>N</a:t>
            </a:r>
            <a:r>
              <a:rPr sz="1400">
                <a:solidFill>
                  <a:srgbClr val="1B2733"/>
                </a:solidFill>
              </a:rPr>
              <a:t> months, ranked by lifetime value so you win back the most valuable relationships first. Adjust the window (6 / 12 / 24 months) to widen or tighten the net. A warm "we miss you" message is drafted for each patient.</a:t>
            </a:r>
          </a:p>
        </p:txBody>
      </p:sp>
      <p:pic>
        <p:nvPicPr>
          <p:cNvPr id="4" name="Picture 3" descr="04-lap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Post-Visit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Care doesn't end when the patient leaves. </a:t>
            </a:r>
            <a:r>
              <a:rPr b="1" sz="1400">
                <a:solidFill>
                  <a:srgbClr val="17568F"/>
                </a:solidFill>
              </a:rPr>
              <a:t>Post-Visit Follow-up</a:t>
            </a:r>
            <a:r>
              <a:rPr sz="1400">
                <a:solidFill>
                  <a:srgbClr val="1B2733"/>
                </a:solidFill>
              </a:rPr>
              <a:t> lists recent visits so you can check in on recovery, prompt a review, or rebook — within a window you choose (7 / 14 / 30 / 60 days). It's the personal touch that turns a one-off visit into an ongoing relationship.</a:t>
            </a:r>
          </a:p>
        </p:txBody>
      </p:sp>
      <p:pic>
        <p:nvPicPr>
          <p:cNvPr id="4" name="Picture 3" descr="05-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Activation Loop — queue, send,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This is what closes the loop. </a:t>
            </a:r>
            <a:r>
              <a:rPr b="1" sz="1400">
                <a:solidFill>
                  <a:srgbClr val="17568F"/>
                </a:solidFill>
              </a:rPr>
              <a:t>Queue due reminders</a:t>
            </a:r>
            <a:r>
              <a:rPr sz="1400">
                <a:solidFill>
                  <a:srgbClr val="1B2733"/>
                </a:solidFill>
              </a:rPr>
              <a:t> turns the lists above into tracked reminders. Every message you then send is </a:t>
            </a:r>
            <a:r>
              <a:rPr b="1" sz="1400">
                <a:solidFill>
                  <a:srgbClr val="17568F"/>
                </a:solidFill>
              </a:rPr>
              <a:t>logged</a:t>
            </a:r>
            <a:r>
              <a:rPr sz="1400">
                <a:solidFill>
                  <a:srgbClr val="1B2733"/>
                </a:solidFill>
              </a:rPr>
              <a:t> — sent, failed, or </a:t>
            </a:r>
            <a:r>
              <a:rPr b="1" sz="1400">
                <a:solidFill>
                  <a:srgbClr val="17568F"/>
                </a:solidFill>
              </a:rPr>
              <a:t>blocked because the patient opted out of marketing</a:t>
            </a:r>
            <a:r>
              <a:rPr sz="1400">
                <a:solidFill>
                  <a:srgbClr val="1B2733"/>
                </a:solidFill>
              </a:rPr>
              <a:t> — so nobody is contacted twice by accident and consent is always respected.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scorecard at the top tracks pending reminders, messages sent, blocked (opted-out) contacts, and the </a:t>
            </a:r>
            <a:r>
              <a:rPr b="1" sz="1400">
                <a:solidFill>
                  <a:srgbClr val="17568F"/>
                </a:solidFill>
              </a:rPr>
              <a:t>return rate</a:t>
            </a:r>
            <a:r>
              <a:rPr sz="1400">
                <a:solidFill>
                  <a:srgbClr val="1B2733"/>
                </a:solidFill>
              </a:rPr>
              <a:t>: how many contacted patients came back within 30 days. That last number is the whole point — proof the activation work is bringing patients through the door.</a:t>
            </a:r>
          </a:p>
        </p:txBody>
      </p:sp>
      <p:pic>
        <p:nvPicPr>
          <p:cNvPr id="4" name="Picture 3" descr="06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Appointments &amp;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Book patients into </a:t>
            </a:r>
            <a:r>
              <a:rPr b="1" sz="1400">
                <a:solidFill>
                  <a:srgbClr val="17568F"/>
                </a:solidFill>
              </a:rPr>
              <a:t>real availability</a:t>
            </a:r>
            <a:r>
              <a:rPr sz="1400">
                <a:solidFill>
                  <a:srgbClr val="1B2733"/>
                </a:solidFill>
              </a:rPr>
              <a:t>. Pick a clinician and day and the schedule shows every slot, free or taken. Booking checks for conflicts, so a clinician can </a:t>
            </a:r>
            <a:r>
              <a:rPr b="1" sz="1400">
                <a:solidFill>
                  <a:srgbClr val="17568F"/>
                </a:solidFill>
              </a:rPr>
              <a:t>never be double-booked</a:t>
            </a:r>
            <a:r>
              <a:rPr sz="1400">
                <a:solidFill>
                  <a:srgbClr val="1B2733"/>
                </a:solidFill>
              </a:rPr>
              <a:t>; the same time on another clinician is still free. Confirm or cancel with one click, and every booking automatically queues a reminder the day before.</a:t>
            </a:r>
          </a:p>
        </p:txBody>
      </p:sp>
      <p:pic>
        <p:nvPicPr>
          <p:cNvPr id="4" name="Picture 3" descr="07-appoin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fast, searchable list of the whole patient base — search by name, town, or NHS number. Each row shows visits, last-seen date and lifetime value, so the people who matter most are easy to find. Click any patient to open their profile.</a:t>
            </a:r>
          </a:p>
        </p:txBody>
      </p:sp>
      <p:pic>
        <p:nvPicPr>
          <p:cNvPr id="4" name="Picture 3" descr="08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Patient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single view of one patient: demographics and contact, lifetime value and visit count, the full consultation history, and recent billed items — everything the team needs before a call or a visit, on one screen.</a:t>
            </a:r>
          </a:p>
        </p:txBody>
      </p:sp>
      <p:pic>
        <p:nvPicPr>
          <p:cNvPr id="4" name="Picture 3" descr="09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Clinical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clinical picture across the practice: the most common diagnoses and a breakdown of activity by clinician. Useful for spotting trends, planning services, and understanding where the clinical workload sits.</a:t>
            </a:r>
          </a:p>
        </p:txBody>
      </p:sp>
      <p:pic>
        <p:nvPicPr>
          <p:cNvPr id="4" name="Picture 3" descr="10-cli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Where the money comes from: revenue by service category and the monthly trend. See at a glance which services drive income and how the practice is tracking over time — the financial companion to the activation work.</a:t>
            </a:r>
          </a:p>
        </p:txBody>
      </p:sp>
      <p:pic>
        <p:nvPicPr>
          <p:cNvPr id="4" name="Picture 3" descr="11-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Billing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Raise </a:t>
            </a:r>
            <a:r>
              <a:rPr b="1" sz="1400">
                <a:solidFill>
                  <a:srgbClr val="17568F"/>
                </a:solidFill>
              </a:rPr>
              <a:t>fee invoices</a:t>
            </a:r>
            <a:r>
              <a:rPr sz="1400">
                <a:solidFill>
                  <a:srgbClr val="1B2733"/>
                </a:solidFill>
              </a:rPr>
              <a:t> against consultations, record </a:t>
            </a:r>
            <a:r>
              <a:rPr b="1" sz="1400">
                <a:solidFill>
                  <a:srgbClr val="17568F"/>
                </a:solidFill>
              </a:rPr>
              <a:t>part or full payments</a:t>
            </a:r>
            <a:r>
              <a:rPr sz="1400">
                <a:solidFill>
                  <a:srgbClr val="1B2733"/>
                </a:solidFill>
              </a:rPr>
              <a:t>, and watch the numbers stay honest: a live </a:t>
            </a:r>
            <a:r>
              <a:rPr b="1" sz="1400">
                <a:solidFill>
                  <a:srgbClr val="17568F"/>
                </a:solidFill>
              </a:rPr>
              <a:t>balanced ledger</a:t>
            </a:r>
            <a:r>
              <a:rPr sz="1400">
                <a:solidFill>
                  <a:srgbClr val="1B2733"/>
                </a:solidFill>
              </a:rPr>
              <a:t> underneath means every pound billed and collected is accounted for. Because the payer is tracked separately from the patient, a parent's invoice for a child's treatment — or an insurer's — is handled naturally.</a:t>
            </a:r>
          </a:p>
        </p:txBody>
      </p:sp>
      <p:pic>
        <p:nvPicPr>
          <p:cNvPr id="4" name="Picture 3" descr="12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SMS Broadcaster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Send text reminders through your SMS provider. Paste in a drafted message from any activation list, or write your own. Opted-out patients are </a:t>
            </a:r>
            <a:r>
              <a:rPr b="1" sz="1400">
                <a:solidFill>
                  <a:srgbClr val="17568F"/>
                </a:solidFill>
              </a:rPr>
              <a:t>automatically suppressed</a:t>
            </a:r>
            <a:r>
              <a:rPr sz="1400">
                <a:solidFill>
                  <a:srgbClr val="1B2733"/>
                </a:solidFill>
              </a:rPr>
              <a:t> at the point of sending, so a campaign never reaches someone who has asked not to be contacted.</a:t>
            </a:r>
          </a:p>
        </p:txBody>
      </p:sp>
      <p:pic>
        <p:nvPicPr>
          <p:cNvPr id="4" name="Picture 3" descr="13-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Email Broadcaster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same, for email. Compose a subject and body — or reuse a drafted message — and send through your email provider, with the same automatic consent protection. Ideal for longer, friendlier win-back and follow-up notes.</a:t>
            </a:r>
          </a:p>
        </p:txBody>
      </p:sp>
      <p:pic>
        <p:nvPicPr>
          <p:cNvPr id="4" name="Picture 3" descr="14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full-page version of the Copilot for deeper questions. Ask about patients, immunisations due, revenue or activation opportunities in plain language and get answers grounded in your live data — a knowledgeable colleague who has read every record.</a:t>
            </a:r>
          </a:p>
        </p:txBody>
      </p:sp>
      <p:pic>
        <p:nvPicPr>
          <p:cNvPr id="4" name="Picture 3" descr="15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SEO / GEO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Grow the </a:t>
            </a:r>
            <a:r>
              <a:rPr i="1" sz="1400">
                <a:solidFill>
                  <a:srgbClr val="1B2733"/>
                </a:solidFill>
              </a:rPr>
              <a:t>top</a:t>
            </a:r>
            <a:r>
              <a:rPr sz="1400">
                <a:solidFill>
                  <a:srgbClr val="1B2733"/>
                </a:solidFill>
              </a:rPr>
              <a:t> of the funnel too. The audit suite checks how well your practice shows up in search and in AI answer engines, and writes dated reports you can act on — so new patients can find you as easily as existing ones come back.</a:t>
            </a:r>
          </a:p>
        </p:txBody>
      </p:sp>
      <p:pic>
        <p:nvPicPr>
          <p:cNvPr id="4" name="Picture 3" descr="16-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Data &amp; Import — keep the records fresh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FastClinic works from your practice-management export. This page shows what's loaded — patients, contacts, consultations and more — and how to refresh it when a new export arrives. When contact details are included, campaign lists are ready to send; without them, lists identify patients by reference for you to match.</a:t>
            </a:r>
          </a:p>
        </p:txBody>
      </p:sp>
      <p:pic>
        <p:nvPicPr>
          <p:cNvPr id="4" name="Picture 3" descr="17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weekly playbook &amp; measuring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A simple weekly rhythm keeps the practice growing: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Monday — See.</a:t>
            </a:r>
            <a:r>
              <a:rPr sz="1400">
                <a:solidFill>
                  <a:srgbClr val="1B2733"/>
                </a:solidFill>
              </a:rPr>
              <a:t> Open the Overview, then the three activation lists. Skim who is due, lapsed, and recently seen.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Reach.</a:t>
            </a:r>
            <a:r>
              <a:rPr sz="1400">
                <a:solidFill>
                  <a:srgbClr val="1B2733"/>
                </a:solidFill>
              </a:rPr>
              <a:t> Queue due reminders on the Activation Loop, review the drafted messages, and send by SMS or email. Opted-out patients are handled for you.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Book.</a:t>
            </a:r>
            <a:r>
              <a:rPr sz="1400">
                <a:solidFill>
                  <a:srgbClr val="1B2733"/>
                </a:solidFill>
              </a:rPr>
              <a:t> As patients reply, book them into Appointments — no double-booking, with a reminder queued automatically.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Measure.</a:t>
            </a:r>
            <a:r>
              <a:rPr sz="1400">
                <a:solidFill>
                  <a:srgbClr val="1B2733"/>
                </a:solidFill>
              </a:rPr>
              <a:t> At week's end, check the Activation Loop's </a:t>
            </a:r>
            <a:r>
              <a:rPr b="1" sz="1400">
                <a:solidFill>
                  <a:srgbClr val="17568F"/>
                </a:solidFill>
              </a:rPr>
              <a:t>return rate</a:t>
            </a:r>
            <a:r>
              <a:rPr sz="1400">
                <a:solidFill>
                  <a:srgbClr val="1B2733"/>
                </a:solidFill>
              </a:rPr>
              <a:t> and the Overview's active-patient and revenue trends.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What to watch:</a:t>
            </a:r>
            <a:r>
              <a:rPr sz="1400">
                <a:solidFill>
                  <a:srgbClr val="1B2733"/>
                </a:solidFill>
              </a:rPr>
              <a:t> active patients, return rate, and revenue trend. Each patient re-activated this year becomes due again next year, so the base of returning patients — and the revenue that comes with it — compounds week over week.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The one question FastClinic answers every day:</a:t>
            </a:r>
            <a:r>
              <a:rPr sz="1400">
                <a:solidFill>
                  <a:srgbClr val="1B2733"/>
                </a:solidFill>
              </a:rPr>
              <a:t> </a:t>
            </a:r>
            <a:r>
              <a:rPr i="1" sz="1400">
                <a:solidFill>
                  <a:srgbClr val="1B2733"/>
                </a:solidFill>
              </a:rPr>
              <a:t>"Which patients should we contact today to grow the practice — and what do we say?"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primary care, made personal · fastclinic.example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