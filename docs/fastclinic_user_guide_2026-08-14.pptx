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ur-lex.europa.eu/eli/reg/2016/679/oj" TargetMode="External"/><Relationship Id="rId3" Type="http://schemas.openxmlformats.org/officeDocument/2006/relationships/hyperlink" Target="https://eur-lex.europa.eu/eli/reg/2025/327/oj" TargetMode="External"/><Relationship Id="rId4" Type="http://schemas.openxmlformats.org/officeDocument/2006/relationships/hyperlink" Target="https://hl7.org/fhir/R4/" TargetMode="External"/><Relationship Id="rId5" Type="http://schemas.openxmlformats.org/officeDocument/2006/relationships/hyperlink" Target="https://www.tehik.ee/en/health-information-system" TargetMode="External"/><Relationship Id="rId6" Type="http://schemas.openxmlformats.org/officeDocument/2006/relationships/hyperlink" Target="https://www.kanta.fi/en/system-developers/fhir-technology-and-kanta" TargetMode="External"/><Relationship Id="rId7" Type="http://schemas.openxmlformats.org/officeDocument/2006/relationships/hyperlink" Target="https://gemspec.gematik.de/ig/fhir/epa/1.3.1/downloads.html" TargetMode="External"/><Relationship Id="rId8" Type="http://schemas.openxmlformats.org/officeDocument/2006/relationships/hyperlink" Target="https://www.nictiz.nl/programmas/medmij/"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74519"/>
            <a:ext cx="12191695" cy="54864"/>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362895" cy="2926080"/>
          </a:xfrm>
          <a:prstGeom prst="rect">
            <a:avLst/>
          </a:prstGeom>
          <a:noFill/>
        </p:spPr>
        <p:txBody>
          <a:bodyPr wrap="square">
            <a:spAutoFit/>
          </a:bodyPr>
          <a:lstStyle/>
          <a:p>
            <a:pPr algn="ctr"/>
            <a:r>
              <a:rPr sz="4600" b="1">
                <a:solidFill>
                  <a:srgbClr val="FFFFFF"/>
                </a:solidFill>
              </a:rPr>
              <a:t>FastClinic</a:t>
            </a:r>
          </a:p>
          <a:p>
            <a:pPr algn="ctr">
              <a:spcBef>
                <a:spcPts val="1200"/>
              </a:spcBef>
            </a:pPr>
            <a:r>
              <a:rPr sz="1800">
                <a:solidFill>
                  <a:srgbClr val="D6E6F5"/>
                </a:solidFill>
              </a:rPr>
              <a:t>User Guide — Run Your Multi-Specialty Clinic</a:t>
            </a:r>
          </a:p>
          <a:p>
            <a:pPr algn="ctr">
              <a:spcBef>
                <a:spcPts val="1200"/>
              </a:spcBef>
            </a:pPr>
            <a:r>
              <a:rPr sz="1800">
                <a:solidFill>
                  <a:srgbClr val="D6E6F5"/>
                </a:solidFill>
              </a:rPr>
              <a:t>Modern clinical care, made personal.</a:t>
            </a:r>
          </a:p>
          <a:p>
            <a:pPr algn="ctr">
              <a:spcBef>
                <a:spcPts val="1200"/>
              </a:spcBef>
            </a:pPr>
            <a:r>
              <a:rPr sz="1800">
                <a:solidFill>
                  <a:srgbClr val="D6E6F5"/>
                </a:solidFill>
              </a:rPr>
              <a:t>General practice · surgical specialties · dental · patient activation</a:t>
            </a:r>
          </a:p>
          <a:p>
            <a:pPr algn="ctr">
              <a:spcBef>
                <a:spcPts val="1200"/>
              </a:spcBef>
            </a:pPr>
            <a:r>
              <a:rPr sz="1800">
                <a:solidFill>
                  <a:srgbClr val="D6E6F5"/>
                </a:solidFill>
              </a:rPr>
              <a:t>Version 0.1.0 · 14 August 2026 · fastclinic.dev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Contents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The PDF page numbers and PowerPoint slide numbers are intentionally identical.</a:t>
            </a:r>
          </a:p>
        </p:txBody>
      </p:sp>
      <p:graphicFrame>
        <p:nvGraphicFramePr>
          <p:cNvPr id="5" name="Table 4"/>
          <p:cNvGraphicFramePr>
            <a:graphicFrameLocks noGrp="1"/>
          </p:cNvGraphicFramePr>
          <p:nvPr/>
        </p:nvGraphicFramePr>
        <p:xfrm>
          <a:off x="502920" y="1783080"/>
          <a:ext cx="11185853" cy="4572000"/>
        </p:xfrm>
        <a:graphic>
          <a:graphicData uri="http://schemas.openxmlformats.org/drawingml/2006/table">
            <a:tbl>
              <a:tblPr firstRow="1" bandRow="1">
                <a:tableStyleId>{5C22544A-7EE6-4342-B048-85BDC9FD1C3A}</a:tableStyleId>
              </a:tblPr>
              <a:tblGrid>
                <a:gridCol w="2908322"/>
                <a:gridCol w="1789736"/>
                <a:gridCol w="6487795"/>
              </a:tblGrid>
              <a:tr h="653142">
                <a:tc>
                  <a:txBody>
                    <a:bodyPr/>
                    <a:lstStyle/>
                    <a:p>
                      <a:r>
                        <a:rPr sz="1000" b="1">
                          <a:solidFill>
                            <a:srgbClr val="FFFFFF"/>
                          </a:solidFill>
                        </a:rPr>
                        <a:t>Component</a:t>
                      </a:r>
                    </a:p>
                  </a:txBody>
                  <a:tcPr marL="54864" marR="54864" marT="9144" marB="9144" anchor="ctr">
                    <a:solidFill>
                      <a:srgbClr val="1E6FB8"/>
                    </a:solidFill>
                  </a:tcPr>
                </a:tc>
                <a:tc>
                  <a:txBody>
                    <a:bodyPr/>
                    <a:lstStyle/>
                    <a:p>
                      <a:r>
                        <a:rPr sz="1000" b="1">
                          <a:solidFill>
                            <a:srgbClr val="FFFFFF"/>
                          </a:solidFill>
                        </a:rPr>
                        <a:t>Pages / slides</a:t>
                      </a:r>
                    </a:p>
                  </a:txBody>
                  <a:tcPr marL="54864" marR="54864" marT="9144" marB="9144" anchor="ctr">
                    <a:solidFill>
                      <a:srgbClr val="1E6FB8"/>
                    </a:solidFill>
                  </a:tcPr>
                </a:tc>
                <a:tc>
                  <a:txBody>
                    <a:bodyPr/>
                    <a:lstStyle/>
                    <a:p>
                      <a:r>
                        <a:rPr sz="1000" b="1">
                          <a:solidFill>
                            <a:srgbClr val="FFFFFF"/>
                          </a:solidFill>
                        </a:rPr>
                        <a:t>What it covers</a:t>
                      </a:r>
                    </a:p>
                  </a:txBody>
                  <a:tcPr marL="54864" marR="54864" marT="9144" marB="9144" anchor="ctr">
                    <a:solidFill>
                      <a:srgbClr val="1E6FB8"/>
                    </a:solidFill>
                  </a:tcPr>
                </a:tc>
              </a:tr>
              <a:tr h="653142">
                <a:tc>
                  <a:txBody>
                    <a:bodyPr/>
                    <a:lstStyle/>
                    <a:p>
                      <a:r>
                        <a:rPr b="1" sz="1000">
                          <a:solidFill>
                            <a:srgbClr val="17568F"/>
                          </a:solidFill>
                        </a:rPr>
                        <a:t>Get started</a:t>
                      </a:r>
                    </a:p>
                  </a:txBody>
                  <a:tcPr marL="54864" marR="54864" marT="9144" marB="9144" anchor="ctr">
                    <a:solidFill>
                      <a:srgbClr val="FFFFFF"/>
                    </a:solidFill>
                  </a:tcPr>
                </a:tc>
                <a:tc>
                  <a:txBody>
                    <a:bodyPr/>
                    <a:lstStyle/>
                    <a:p>
                      <a:r>
                        <a:rPr sz="1000">
                          <a:solidFill>
                            <a:srgbClr val="1B2733"/>
                          </a:solidFill>
                        </a:rPr>
                        <a:t>3–6</a:t>
                      </a:r>
                    </a:p>
                  </a:txBody>
                  <a:tcPr marL="54864" marR="54864" marT="9144" marB="9144" anchor="ctr">
                    <a:solidFill>
                      <a:srgbClr val="FFFFFF"/>
                    </a:solidFill>
                  </a:tcPr>
                </a:tc>
                <a:tc>
                  <a:txBody>
                    <a:bodyPr/>
                    <a:lstStyle/>
                    <a:p>
                      <a:r>
                        <a:rPr sz="1000">
                          <a:solidFill>
                            <a:srgbClr val="1B2733"/>
                          </a:solidFill>
                        </a:rPr>
                        <a:t>Overview, sign-in, layout, and Copilot</a:t>
                      </a:r>
                    </a:p>
                  </a:txBody>
                  <a:tcPr marL="54864" marR="54864" marT="9144" marB="9144" anchor="ctr">
                    <a:solidFill>
                      <a:srgbClr val="FFFFFF"/>
                    </a:solidFill>
                  </a:tcPr>
                </a:tc>
              </a:tr>
              <a:tr h="653142">
                <a:tc>
                  <a:txBody>
                    <a:bodyPr/>
                    <a:lstStyle/>
                    <a:p>
                      <a:r>
                        <a:rPr b="1" sz="1000">
                          <a:solidFill>
                            <a:srgbClr val="17568F"/>
                          </a:solidFill>
                        </a:rPr>
                        <a:t>Run the clinic</a:t>
                      </a:r>
                    </a:p>
                  </a:txBody>
                  <a:tcPr marL="54864" marR="54864" marT="9144" marB="9144" anchor="ctr">
                    <a:solidFill>
                      <a:srgbClr val="EEF4FA"/>
                    </a:solidFill>
                  </a:tcPr>
                </a:tc>
                <a:tc>
                  <a:txBody>
                    <a:bodyPr/>
                    <a:lstStyle/>
                    <a:p>
                      <a:r>
                        <a:rPr sz="1000">
                          <a:solidFill>
                            <a:srgbClr val="1B2733"/>
                          </a:solidFill>
                        </a:rPr>
                        <a:t>7–14</a:t>
                      </a:r>
                    </a:p>
                  </a:txBody>
                  <a:tcPr marL="54864" marR="54864" marT="9144" marB="9144" anchor="ctr">
                    <a:solidFill>
                      <a:srgbClr val="EEF4FA"/>
                    </a:solidFill>
                  </a:tcPr>
                </a:tc>
                <a:tc>
                  <a:txBody>
                    <a:bodyPr/>
                    <a:lstStyle/>
                    <a:p>
                      <a:r>
                        <a:rPr sz="1000">
                          <a:solidFill>
                            <a:srgbClr val="1B2733"/>
                          </a:solidFill>
                        </a:rPr>
                        <a:t>Treatments, appointments, patients, clinical, revenue, and billing</a:t>
                      </a:r>
                    </a:p>
                  </a:txBody>
                  <a:tcPr marL="54864" marR="54864" marT="9144" marB="9144" anchor="ctr">
                    <a:solidFill>
                      <a:srgbClr val="EEF4FA"/>
                    </a:solidFill>
                  </a:tcPr>
                </a:tc>
              </a:tr>
              <a:tr h="653142">
                <a:tc>
                  <a:txBody>
                    <a:bodyPr/>
                    <a:lstStyle/>
                    <a:p>
                      <a:r>
                        <a:rPr b="1" sz="1000">
                          <a:solidFill>
                            <a:srgbClr val="17568F"/>
                          </a:solidFill>
                        </a:rPr>
                        <a:t>Keep patients in the loop</a:t>
                      </a:r>
                    </a:p>
                  </a:txBody>
                  <a:tcPr marL="54864" marR="54864" marT="9144" marB="9144" anchor="ctr">
                    <a:solidFill>
                      <a:srgbClr val="FFFFFF"/>
                    </a:solidFill>
                  </a:tcPr>
                </a:tc>
                <a:tc>
                  <a:txBody>
                    <a:bodyPr/>
                    <a:lstStyle/>
                    <a:p>
                      <a:r>
                        <a:rPr sz="1000">
                          <a:solidFill>
                            <a:srgbClr val="1B2733"/>
                          </a:solidFill>
                        </a:rPr>
                        <a:t>15–19</a:t>
                      </a:r>
                    </a:p>
                  </a:txBody>
                  <a:tcPr marL="54864" marR="54864" marT="9144" marB="9144" anchor="ctr">
                    <a:solidFill>
                      <a:srgbClr val="FFFFFF"/>
                    </a:solidFill>
                  </a:tcPr>
                </a:tc>
                <a:tc>
                  <a:txBody>
                    <a:bodyPr/>
                    <a:lstStyle/>
                    <a:p>
                      <a:r>
                        <a:rPr sz="1000">
                          <a:solidFill>
                            <a:srgbClr val="1B2733"/>
                          </a:solidFill>
                        </a:rPr>
                        <a:t>Recall, lapsed patients, follow-up, and measured outreach</a:t>
                      </a:r>
                    </a:p>
                  </a:txBody>
                  <a:tcPr marL="54864" marR="54864" marT="9144" marB="9144" anchor="ctr">
                    <a:solidFill>
                      <a:srgbClr val="FFFFFF"/>
                    </a:solidFill>
                  </a:tcPr>
                </a:tc>
              </a:tr>
              <a:tr h="653142">
                <a:tc>
                  <a:txBody>
                    <a:bodyPr/>
                    <a:lstStyle/>
                    <a:p>
                      <a:r>
                        <a:rPr b="1" sz="1000">
                          <a:solidFill>
                            <a:srgbClr val="17568F"/>
                          </a:solidFill>
                        </a:rPr>
                        <a:t>Reach, automate &amp; integrate</a:t>
                      </a:r>
                    </a:p>
                  </a:txBody>
                  <a:tcPr marL="54864" marR="54864" marT="9144" marB="9144" anchor="ctr">
                    <a:solidFill>
                      <a:srgbClr val="EEF4FA"/>
                    </a:solidFill>
                  </a:tcPr>
                </a:tc>
                <a:tc>
                  <a:txBody>
                    <a:bodyPr/>
                    <a:lstStyle/>
                    <a:p>
                      <a:r>
                        <a:rPr sz="1000">
                          <a:solidFill>
                            <a:srgbClr val="1B2733"/>
                          </a:solidFill>
                        </a:rPr>
                        <a:t>20–25</a:t>
                      </a:r>
                    </a:p>
                  </a:txBody>
                  <a:tcPr marL="54864" marR="54864" marT="9144" marB="9144" anchor="ctr">
                    <a:solidFill>
                      <a:srgbClr val="EEF4FA"/>
                    </a:solidFill>
                  </a:tcPr>
                </a:tc>
                <a:tc>
                  <a:txBody>
                    <a:bodyPr/>
                    <a:lstStyle/>
                    <a:p>
                      <a:r>
                        <a:rPr sz="1000">
                          <a:solidFill>
                            <a:srgbClr val="1B2733"/>
                          </a:solidFill>
                        </a:rPr>
                        <a:t>Communications, AI, web presence, API, and data operations</a:t>
                      </a:r>
                    </a:p>
                  </a:txBody>
                  <a:tcPr marL="54864" marR="54864" marT="9144" marB="9144" anchor="ctr">
                    <a:solidFill>
                      <a:srgbClr val="EEF4FA"/>
                    </a:solidFill>
                  </a:tcPr>
                </a:tc>
              </a:tr>
              <a:tr h="653142">
                <a:tc>
                  <a:txBody>
                    <a:bodyPr/>
                    <a:lstStyle/>
                    <a:p>
                      <a:r>
                        <a:rPr b="1" sz="1000">
                          <a:solidFill>
                            <a:srgbClr val="17568F"/>
                          </a:solidFill>
                        </a:rPr>
                        <a:t>Compliance &amp; interoperability</a:t>
                      </a:r>
                    </a:p>
                  </a:txBody>
                  <a:tcPr marL="54864" marR="54864" marT="9144" marB="9144" anchor="ctr">
                    <a:solidFill>
                      <a:srgbClr val="FFFFFF"/>
                    </a:solidFill>
                  </a:tcPr>
                </a:tc>
                <a:tc>
                  <a:txBody>
                    <a:bodyPr/>
                    <a:lstStyle/>
                    <a:p>
                      <a:r>
                        <a:rPr sz="1000">
                          <a:solidFill>
                            <a:srgbClr val="1B2733"/>
                          </a:solidFill>
                        </a:rPr>
                        <a:t>26–30</a:t>
                      </a:r>
                    </a:p>
                  </a:txBody>
                  <a:tcPr marL="54864" marR="54864" marT="9144" marB="9144" anchor="ctr">
                    <a:solidFill>
                      <a:srgbClr val="FFFFFF"/>
                    </a:solidFill>
                  </a:tcPr>
                </a:tc>
                <a:tc>
                  <a:txBody>
                    <a:bodyPr/>
                    <a:lstStyle/>
                    <a:p>
                      <a:r>
                        <a:rPr sz="1000">
                          <a:solidFill>
                            <a:srgbClr val="1B2733"/>
                          </a:solidFill>
                        </a:rPr>
                        <a:t>Current posture, GDPR path, FHIR/EHDS, and national adapters</a:t>
                      </a:r>
                    </a:p>
                  </a:txBody>
                  <a:tcPr marL="54864" marR="54864" marT="9144" marB="9144" anchor="ctr">
                    <a:solidFill>
                      <a:srgbClr val="FFFFFF"/>
                    </a:solidFill>
                  </a:tcPr>
                </a:tc>
              </a:tr>
              <a:tr h="653148">
                <a:tc>
                  <a:txBody>
                    <a:bodyPr/>
                    <a:lstStyle/>
                    <a:p>
                      <a:r>
                        <a:rPr b="1" sz="1000">
                          <a:solidFill>
                            <a:srgbClr val="17568F"/>
                          </a:solidFill>
                        </a:rPr>
                        <a:t>Run it every week</a:t>
                      </a:r>
                    </a:p>
                  </a:txBody>
                  <a:tcPr marL="54864" marR="54864" marT="9144" marB="9144" anchor="ctr">
                    <a:solidFill>
                      <a:srgbClr val="EEF4FA"/>
                    </a:solidFill>
                  </a:tcPr>
                </a:tc>
                <a:tc>
                  <a:txBody>
                    <a:bodyPr/>
                    <a:lstStyle/>
                    <a:p>
                      <a:r>
                        <a:rPr sz="1000">
                          <a:solidFill>
                            <a:srgbClr val="1B2733"/>
                          </a:solidFill>
                        </a:rPr>
                        <a:t>31–33</a:t>
                      </a:r>
                    </a:p>
                  </a:txBody>
                  <a:tcPr marL="54864" marR="54864" marT="9144" marB="9144" anchor="ctr">
                    <a:solidFill>
                      <a:srgbClr val="EEF4FA"/>
                    </a:solidFill>
                  </a:tcPr>
                </a:tc>
                <a:tc>
                  <a:txBody>
                    <a:bodyPr/>
                    <a:lstStyle/>
                    <a:p>
                      <a:r>
                        <a:rPr sz="1000">
                          <a:solidFill>
                            <a:srgbClr val="1B2733"/>
                          </a:solidFill>
                        </a:rPr>
                        <a:t>Weekly operating rhythm and quick reference</a:t>
                      </a:r>
                    </a:p>
                  </a:txBody>
                  <a:tcPr marL="54864" marR="54864" marT="9144" marB="9144" anchor="ctr">
                    <a:solidFill>
                      <a:srgbClr val="EEF4FA"/>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01</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Get started</a:t>
            </a:r>
          </a:p>
          <a:p>
            <a:pPr>
              <a:spcBef>
                <a:spcPts val="1600"/>
              </a:spcBef>
            </a:pPr>
            <a:r>
              <a:rPr sz="1800">
                <a:solidFill>
                  <a:srgbClr val="D6E6F5"/>
                </a:solidFill>
              </a:rPr>
              <a:t>Orient the team around one operations cockpit, one consistent layout, and one assistant grounded in clinic data.</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FastClinic at a glance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b="1" sz="1400">
                <a:solidFill>
                  <a:srgbClr val="17568F"/>
                </a:solidFill>
              </a:rPr>
              <a:t>FastClinic</a:t>
            </a:r>
            <a:r>
              <a:rPr sz="1400">
                <a:solidFill>
                  <a:srgbClr val="1B2733"/>
                </a:solidFill>
              </a:rPr>
              <a:t> is an open-source operations platform for European private multi-specialty clinics. The Overview is the daily scorecard: active and total patients, visits, revenue, service mix, and trends—all dated so the team knows how fresh the picture is.</a:t>
            </a:r>
          </a:p>
          <a:p>
            <a:pPr>
              <a:spcAft>
                <a:spcPts val="600"/>
              </a:spcAft>
            </a:pPr>
            <a:r>
              <a:rPr sz="1400">
                <a:solidFill>
                  <a:srgbClr val="1B2733"/>
                </a:solidFill>
              </a:rPr>
              <a:t>The platform combines </a:t>
            </a:r>
            <a:r>
              <a:rPr b="1" sz="1400">
                <a:solidFill>
                  <a:srgbClr val="17568F"/>
                </a:solidFill>
              </a:rPr>
              <a:t>real availability and conflict-safe appointments</a:t>
            </a:r>
            <a:r>
              <a:rPr sz="1400">
                <a:solidFill>
                  <a:srgbClr val="1B2733"/>
                </a:solidFill>
              </a:rPr>
              <a:t>, patient and contact-party operations, recall, communications, balanced billing, multi-specialty analytics, and an AI assistant. The public demo contains only synthetic records; it is designed for safe exploration rather than clinical use.</a:t>
            </a:r>
          </a:p>
        </p:txBody>
      </p:sp>
      <p:pic>
        <p:nvPicPr>
          <p:cNvPr id="5" name="Picture 4" descr="01-overview.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Sign in &amp; the three-pane layout</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Open </a:t>
            </a:r>
            <a:r>
              <a:rPr b="1" sz="1400">
                <a:solidFill>
                  <a:srgbClr val="17568F"/>
                </a:solidFill>
              </a:rPr>
              <a:t>https://fastclinic.dev</a:t>
            </a:r>
            <a:r>
              <a:rPr sz="1400">
                <a:solidFill>
                  <a:srgbClr val="1B2733"/>
                </a:solidFill>
              </a:rPr>
              <a:t> and choose </a:t>
            </a:r>
            <a:r>
              <a:rPr b="1" sz="1400">
                <a:solidFill>
                  <a:srgbClr val="17568F"/>
                </a:solidFill>
              </a:rPr>
              <a:t>Sign In</a:t>
            </a:r>
            <a:r>
              <a:rPr sz="1400">
                <a:solidFill>
                  <a:srgbClr val="1B2733"/>
                </a:solidFill>
              </a:rPr>
              <a:t>. Use the account method configured for your clinic; the public demo may offer local or Google sign-in.</a:t>
            </a:r>
          </a:p>
          <a:p>
            <a:pPr>
              <a:spcAft>
                <a:spcPts val="600"/>
              </a:spcAft>
            </a:pPr>
            <a:r>
              <a:rPr sz="1400">
                <a:solidFill>
                  <a:srgbClr val="1B2733"/>
                </a:solidFill>
              </a:rPr>
              <a:t>• </a:t>
            </a:r>
            <a:r>
              <a:rPr b="1" sz="1400">
                <a:solidFill>
                  <a:srgbClr val="17568F"/>
                </a:solidFill>
              </a:rPr>
              <a:t>Left</a:t>
            </a:r>
            <a:r>
              <a:rPr sz="1400">
                <a:solidFill>
                  <a:srgbClr val="1B2733"/>
                </a:solidFill>
              </a:rPr>
              <a:t> — navigation grouped by job: Overview, Operations, Recall &amp; Scheduling, Communications, Help, and Admin.</a:t>
            </a:r>
          </a:p>
          <a:p>
            <a:pPr>
              <a:spcAft>
                <a:spcPts val="600"/>
              </a:spcAft>
            </a:pPr>
            <a:r>
              <a:rPr sz="1400">
                <a:solidFill>
                  <a:srgbClr val="1B2733"/>
                </a:solidFill>
              </a:rPr>
              <a:t>• </a:t>
            </a:r>
            <a:r>
              <a:rPr b="1" sz="1400">
                <a:solidFill>
                  <a:srgbClr val="17568F"/>
                </a:solidFill>
              </a:rPr>
              <a:t>Centre</a:t>
            </a:r>
            <a:r>
              <a:rPr sz="1400">
                <a:solidFill>
                  <a:srgbClr val="1B2733"/>
                </a:solidFill>
              </a:rPr>
              <a:t> — the active workspace: dashboards, lists, forms, and reports.</a:t>
            </a:r>
          </a:p>
          <a:p>
            <a:pPr>
              <a:spcAft>
                <a:spcPts val="600"/>
              </a:spcAft>
            </a:pPr>
            <a:r>
              <a:rPr sz="1400">
                <a:solidFill>
                  <a:srgbClr val="1B2733"/>
                </a:solidFill>
              </a:rPr>
              <a:t>• </a:t>
            </a:r>
            <a:r>
              <a:rPr b="1" sz="1400">
                <a:solidFill>
                  <a:srgbClr val="17568F"/>
                </a:solidFill>
              </a:rPr>
              <a:t>Right</a:t>
            </a:r>
            <a:r>
              <a:rPr sz="1400">
                <a:solidFill>
                  <a:srgbClr val="1B2733"/>
                </a:solidFill>
              </a:rPr>
              <a:t> — the collapsible </a:t>
            </a:r>
            <a:r>
              <a:rPr b="1" sz="1400">
                <a:solidFill>
                  <a:srgbClr val="17568F"/>
                </a:solidFill>
              </a:rPr>
              <a:t>AI Copilot</a:t>
            </a:r>
            <a:r>
              <a:rPr sz="1400">
                <a:solidFill>
                  <a:srgbClr val="1B2733"/>
                </a:solidFill>
              </a:rPr>
              <a:t>, available without leaving the current task.</a:t>
            </a:r>
          </a:p>
          <a:p>
            <a:pPr>
              <a:spcAft>
                <a:spcPts val="600"/>
              </a:spcAft>
            </a:pPr>
            <a:r>
              <a:rPr sz="1400">
                <a:solidFill>
                  <a:srgbClr val="1B2733"/>
                </a:solidFill>
              </a:rPr>
              <a:t>The public landing page, account flow, compliance page, developer page, app, chat, and dashboards support the same European language catalogue.</a:t>
            </a:r>
          </a:p>
        </p:txBody>
      </p:sp>
      <p:pic>
        <p:nvPicPr>
          <p:cNvPr id="5" name="Picture 4" descr="00-login.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The AI Copilot — just ask</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Copilot turns plain-language questions into answers grounded in FastClinic's tools and current conversation. Ask </a:t>
            </a:r>
            <a:r>
              <a:rPr i="1" sz="1400">
                <a:solidFill>
                  <a:srgbClr val="1B2733"/>
                </a:solidFill>
              </a:rPr>
              <a:t>“Which specialties bring in the most revenue?”</a:t>
            </a:r>
            <a:r>
              <a:rPr sz="1400">
                <a:solidFill>
                  <a:srgbClr val="1B2733"/>
                </a:solidFill>
              </a:rPr>
              <a:t>, </a:t>
            </a:r>
            <a:r>
              <a:rPr i="1" sz="1400">
                <a:solidFill>
                  <a:srgbClr val="1B2733"/>
                </a:solidFill>
              </a:rPr>
              <a:t>“How many surgical cases did we run?”</a:t>
            </a:r>
            <a:r>
              <a:rPr sz="1400">
                <a:solidFill>
                  <a:srgbClr val="1B2733"/>
                </a:solidFill>
              </a:rPr>
              <a:t>, or </a:t>
            </a:r>
            <a:r>
              <a:rPr i="1" sz="1400">
                <a:solidFill>
                  <a:srgbClr val="1B2733"/>
                </a:solidFill>
              </a:rPr>
              <a:t>“Who is due for recall?”</a:t>
            </a:r>
          </a:p>
          <a:p>
            <a:pPr>
              <a:spcAft>
                <a:spcPts val="600"/>
              </a:spcAft>
            </a:pPr>
            <a:r>
              <a:rPr sz="1400">
                <a:solidFill>
                  <a:srgbClr val="1B2733"/>
                </a:solidFill>
              </a:rPr>
              <a:t>• Conversation history is checkpointed per account and thread, with bounded retention and context limits.</a:t>
            </a:r>
          </a:p>
          <a:p>
            <a:pPr>
              <a:spcAft>
                <a:spcPts val="600"/>
              </a:spcAft>
            </a:pPr>
            <a:r>
              <a:rPr sz="1400">
                <a:solidFill>
                  <a:srgbClr val="1B2733"/>
                </a:solidFill>
              </a:rPr>
              <a:t>• The selected request language is propagated into agent tool execution so the answer and underlying labels stay aligned.</a:t>
            </a:r>
          </a:p>
          <a:p>
            <a:pPr>
              <a:spcAft>
                <a:spcPts val="600"/>
              </a:spcAft>
            </a:pPr>
            <a:r>
              <a:rPr sz="1400">
                <a:solidFill>
                  <a:srgbClr val="1B2733"/>
                </a:solidFill>
              </a:rPr>
              <a:t>• Slash commands provide deterministic pulls: </a:t>
            </a:r>
            <a:r>
              <a:rPr sz="1400">
                <a:solidFill>
                  <a:srgbClr val="17568F"/>
                </a:solidFill>
                <a:latin typeface="Consolas"/>
              </a:rPr>
              <a:t>/kpi</a:t>
            </a:r>
            <a:r>
              <a:rPr sz="1400">
                <a:solidFill>
                  <a:srgbClr val="1B2733"/>
                </a:solidFill>
              </a:rPr>
              <a:t>, </a:t>
            </a:r>
            <a:r>
              <a:rPr sz="1400">
                <a:solidFill>
                  <a:srgbClr val="17568F"/>
                </a:solidFill>
                <a:latin typeface="Consolas"/>
              </a:rPr>
              <a:t>/due</a:t>
            </a:r>
            <a:r>
              <a:rPr sz="1400">
                <a:solidFill>
                  <a:srgbClr val="1B2733"/>
                </a:solidFill>
              </a:rPr>
              <a:t>, </a:t>
            </a:r>
            <a:r>
              <a:rPr sz="1400">
                <a:solidFill>
                  <a:srgbClr val="17568F"/>
                </a:solidFill>
                <a:latin typeface="Consolas"/>
              </a:rPr>
              <a:t>/lapsed</a:t>
            </a:r>
            <a:r>
              <a:rPr sz="1400">
                <a:solidFill>
                  <a:srgbClr val="1B2733"/>
                </a:solidFill>
              </a:rPr>
              <a:t>, </a:t>
            </a:r>
            <a:r>
              <a:rPr sz="1400">
                <a:solidFill>
                  <a:srgbClr val="17568F"/>
                </a:solidFill>
                <a:latin typeface="Consolas"/>
              </a:rPr>
              <a:t>/followup</a:t>
            </a:r>
            <a:r>
              <a:rPr sz="1400">
                <a:solidFill>
                  <a:srgbClr val="1B2733"/>
                </a:solidFill>
              </a:rPr>
              <a:t>, </a:t>
            </a:r>
            <a:r>
              <a:rPr sz="1400">
                <a:solidFill>
                  <a:srgbClr val="17568F"/>
                </a:solidFill>
                <a:latin typeface="Consolas"/>
              </a:rPr>
              <a:t>/revenue</a:t>
            </a:r>
            <a:r>
              <a:rPr sz="1400">
                <a:solidFill>
                  <a:srgbClr val="1B2733"/>
                </a:solidFill>
              </a:rPr>
              <a:t>, and </a:t>
            </a:r>
            <a:r>
              <a:rPr sz="1400">
                <a:solidFill>
                  <a:srgbClr val="17568F"/>
                </a:solidFill>
                <a:latin typeface="Consolas"/>
              </a:rPr>
              <a:t>/patient &lt;id&gt;</a:t>
            </a:r>
            <a:r>
              <a:rPr sz="1400">
                <a:solidFill>
                  <a:srgbClr val="1B2733"/>
                </a:solidFill>
              </a:rPr>
              <a:t>.</a:t>
            </a:r>
          </a:p>
          <a:p>
            <a:pPr>
              <a:spcAft>
                <a:spcPts val="600"/>
              </a:spcAft>
            </a:pPr>
            <a:r>
              <a:rPr sz="1400">
                <a:solidFill>
                  <a:srgbClr val="1B2733"/>
                </a:solidFill>
              </a:rPr>
              <a:t>The assistant is scoped to operations and information retrieval; it is not a diagnostic or treatment-recommendation system.</a:t>
            </a:r>
          </a:p>
        </p:txBody>
      </p:sp>
      <p:pic>
        <p:nvPicPr>
          <p:cNvPr id="5" name="Picture 4" descr="02-copilot.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02</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Run the clinic</a:t>
            </a:r>
          </a:p>
          <a:p>
            <a:pPr>
              <a:spcBef>
                <a:spcPts val="1600"/>
              </a:spcBef>
            </a:pPr>
            <a:r>
              <a:rPr sz="1800">
                <a:solidFill>
                  <a:srgbClr val="D6E6F5"/>
                </a:solidFill>
              </a:rPr>
              <a:t>Plan work, protect availability, understand the patient base, and keep the financial record balanced across every specialty.</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Treatments &amp; Specialties — the case-mix lens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Every treatment line is classified on two axes: </a:t>
            </a:r>
            <a:r>
              <a:rPr b="1" sz="1400">
                <a:solidFill>
                  <a:srgbClr val="17568F"/>
                </a:solidFill>
              </a:rPr>
              <a:t>what was delivered</a:t>
            </a:r>
            <a:r>
              <a:rPr sz="1400">
                <a:solidFill>
                  <a:srgbClr val="1B2733"/>
                </a:solidFill>
              </a:rPr>
              <a:t> (consultation, surgery, dental, diagnostic, procedure, and more) and </a:t>
            </a:r>
            <a:r>
              <a:rPr b="1" sz="1400">
                <a:solidFill>
                  <a:srgbClr val="17568F"/>
                </a:solidFill>
              </a:rPr>
              <a:t>which specialty delivered it</a:t>
            </a:r>
            <a:r>
              <a:rPr sz="1400">
                <a:solidFill>
                  <a:srgbClr val="1B2733"/>
                </a:solidFill>
              </a:rPr>
              <a:t>.</a:t>
            </a:r>
          </a:p>
          <a:p>
            <a:pPr>
              <a:spcAft>
                <a:spcPts val="600"/>
              </a:spcAft>
            </a:pPr>
            <a:r>
              <a:rPr sz="1400">
                <a:solidFill>
                  <a:srgbClr val="1B2733"/>
                </a:solidFill>
              </a:rPr>
              <a:t>Use this view to compare revenue and case volume across general practice, orthopaedics, ophthalmology, ENT, general surgery, gynaecology, urology, dermatology, plastics, cardiology, gastroenterology, dental, and diagnostics. Surgical throughput and top procedures make the operational mix visible without flattening the clinic into a single revenue total.</a:t>
            </a:r>
          </a:p>
        </p:txBody>
      </p:sp>
      <p:pic>
        <p:nvPicPr>
          <p:cNvPr id="5" name="Picture 4" descr="18-treatments.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Appointments &amp; booking</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Book into </a:t>
            </a:r>
            <a:r>
              <a:rPr b="1" sz="1400">
                <a:solidFill>
                  <a:srgbClr val="17568F"/>
                </a:solidFill>
              </a:rPr>
              <a:t>real clinician availability</a:t>
            </a:r>
            <a:r>
              <a:rPr sz="1400">
                <a:solidFill>
                  <a:srgbClr val="1B2733"/>
                </a:solidFill>
              </a:rPr>
              <a:t>. Choose a clinician and date to see free and occupied slots, then create, confirm, reschedule, complete, or cancel an appointment.</a:t>
            </a:r>
          </a:p>
          <a:p>
            <a:pPr>
              <a:spcAft>
                <a:spcPts val="600"/>
              </a:spcAft>
            </a:pPr>
            <a:r>
              <a:rPr sz="1400">
                <a:solidFill>
                  <a:srgbClr val="1B2733"/>
                </a:solidFill>
              </a:rPr>
              <a:t>• Conflict detection prevents the same clinician being double-booked.</a:t>
            </a:r>
          </a:p>
          <a:p>
            <a:pPr>
              <a:spcAft>
                <a:spcPts val="600"/>
              </a:spcAft>
            </a:pPr>
            <a:r>
              <a:rPr sz="1400">
                <a:solidFill>
                  <a:srgbClr val="1B2733"/>
                </a:solidFill>
              </a:rPr>
              <a:t>• A parallel slot can remain available for another clinician.</a:t>
            </a:r>
          </a:p>
          <a:p>
            <a:pPr>
              <a:spcAft>
                <a:spcPts val="600"/>
              </a:spcAft>
            </a:pPr>
            <a:r>
              <a:rPr sz="1400">
                <a:solidFill>
                  <a:srgbClr val="1B2733"/>
                </a:solidFill>
              </a:rPr>
              <a:t>• Booking changes retain operational history and can queue reminders.</a:t>
            </a:r>
          </a:p>
          <a:p>
            <a:pPr>
              <a:spcAft>
                <a:spcPts val="600"/>
              </a:spcAft>
            </a:pPr>
            <a:r>
              <a:rPr sz="1400">
                <a:solidFill>
                  <a:srgbClr val="1B2733"/>
                </a:solidFill>
              </a:rPr>
              <a:t>• The integration API exposes availability and idempotent external reservation primitives for booking adapters.</a:t>
            </a:r>
          </a:p>
        </p:txBody>
      </p:sp>
      <p:pic>
        <p:nvPicPr>
          <p:cNvPr id="5" name="Picture 4" descr="07-appointments.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Patients, contacts &amp; representatives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searchable patient register shows visit count, last-seen date, and lifetime value. FastClinic deliberately separates the </a:t>
            </a:r>
            <a:r>
              <a:rPr b="1" sz="1400">
                <a:solidFill>
                  <a:srgbClr val="17568F"/>
                </a:solidFill>
              </a:rPr>
              <a:t>subject of care</a:t>
            </a:r>
            <a:r>
              <a:rPr sz="1400">
                <a:solidFill>
                  <a:srgbClr val="1B2733"/>
                </a:solidFill>
              </a:rPr>
              <a:t> from the </a:t>
            </a:r>
            <a:r>
              <a:rPr b="1" sz="1400">
                <a:solidFill>
                  <a:srgbClr val="17568F"/>
                </a:solidFill>
              </a:rPr>
              <a:t>contactable or billable party</a:t>
            </a:r>
            <a:r>
              <a:rPr sz="1400">
                <a:solidFill>
                  <a:srgbClr val="1B2733"/>
                </a:solidFill>
              </a:rPr>
              <a:t>.</a:t>
            </a:r>
          </a:p>
          <a:p>
            <a:pPr>
              <a:spcAft>
                <a:spcPts val="600"/>
              </a:spcAft>
            </a:pPr>
            <a:r>
              <a:rPr sz="1400">
                <a:solidFill>
                  <a:srgbClr val="1B2733"/>
                </a:solidFill>
              </a:rPr>
              <a:t>That model supports a patient acting for themselves, a guardian representing a minor, a family contact, an emergency contact, or a separate payer. Consent, communications, and invoices are attributed to the correct party instead of assuming the patient is always directly contactable.</a:t>
            </a:r>
          </a:p>
        </p:txBody>
      </p:sp>
      <p:pic>
        <p:nvPicPr>
          <p:cNvPr id="5" name="Picture 4" descr="08-patients.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Patient profile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profile brings together demographics, representatives, lifetime value, visit count, consultation history, diagnoses, notes, and recent billable items.</a:t>
            </a:r>
          </a:p>
          <a:p>
            <a:pPr>
              <a:spcAft>
                <a:spcPts val="600"/>
              </a:spcAft>
            </a:pPr>
            <a:r>
              <a:rPr sz="1400">
                <a:solidFill>
                  <a:srgbClr val="1B2733"/>
                </a:solidFill>
              </a:rPr>
              <a:t>Use it before a call or visit to understand the relationship context as well as the care history. API mutations follow domain-safe behaviour: clinical subjects and notes are archived instead of silently erased, and linked parties cannot be deleted until their relationships are resolved.</a:t>
            </a:r>
          </a:p>
        </p:txBody>
      </p:sp>
      <p:pic>
        <p:nvPicPr>
          <p:cNvPr id="5" name="Picture 4" descr="09-patient.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Clinical operations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Clinical view summarises common diagnoses and clinician activity across the practice. It is an operational workload and service-planning lens—not clinical decision support.</a:t>
            </a:r>
          </a:p>
          <a:p>
            <a:pPr>
              <a:spcAft>
                <a:spcPts val="600"/>
              </a:spcAft>
            </a:pPr>
            <a:r>
              <a:rPr sz="1400">
                <a:solidFill>
                  <a:srgbClr val="1B2733"/>
                </a:solidFill>
              </a:rPr>
              <a:t>Use it to identify capacity pressure, recurring condition cohorts, and where follow-up programmes may be useful. Imported diagnoses and performed-care facts remain traceable to their synthetic consultations.</a:t>
            </a:r>
          </a:p>
        </p:txBody>
      </p:sp>
      <p:pic>
        <p:nvPicPr>
          <p:cNvPr id="5" name="Picture 4" descr="10-clinical.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Revenue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Revenue is shown by month, service category, specialty, and top procedure. Pair it with Treatments &amp; Specialties to understand both the money and the work behind it.</a:t>
            </a:r>
          </a:p>
          <a:p>
            <a:pPr>
              <a:spcAft>
                <a:spcPts val="600"/>
              </a:spcAft>
            </a:pPr>
            <a:r>
              <a:rPr sz="1400">
                <a:solidFill>
                  <a:srgbClr val="1B2733"/>
                </a:solidFill>
              </a:rPr>
              <a:t>The analytics endpoints expose the same synthetic aggregates used by the dashboard, so an authorised integration can reconcile its reports against the user interface.</a:t>
            </a:r>
          </a:p>
        </p:txBody>
      </p:sp>
      <p:pic>
        <p:nvPicPr>
          <p:cNvPr id="5" name="Picture 4" descr="11-revenue.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Billing &amp; payments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Raise invoices from consultations, record part or full payments, issue refunds, and void invoices through reversing entries. A </a:t>
            </a:r>
            <a:r>
              <a:rPr b="1" sz="1400">
                <a:solidFill>
                  <a:srgbClr val="17568F"/>
                </a:solidFill>
              </a:rPr>
              <a:t>balanced double-entry ledger</a:t>
            </a:r>
            <a:r>
              <a:rPr sz="1400">
                <a:solidFill>
                  <a:srgbClr val="1B2733"/>
                </a:solidFill>
              </a:rPr>
              <a:t> keeps every billed and collected amount accounted for.</a:t>
            </a:r>
          </a:p>
          <a:p>
            <a:pPr>
              <a:spcAft>
                <a:spcPts val="600"/>
              </a:spcAft>
            </a:pPr>
            <a:r>
              <a:rPr sz="1400">
                <a:solidFill>
                  <a:srgbClr val="1B2733"/>
                </a:solidFill>
              </a:rPr>
              <a:t>Because payer and patient are separate, a guardian or insurer can pay for a subject of care naturally. API idempotency keys prevent the same payment being recorded twice, while the audit trail records operational mutations.</a:t>
            </a:r>
          </a:p>
        </p:txBody>
      </p:sp>
      <p:pic>
        <p:nvPicPr>
          <p:cNvPr id="5" name="Picture 4" descr="12-billing.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03</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Keep patients in the loop</a:t>
            </a:r>
          </a:p>
          <a:p>
            <a:pPr>
              <a:spcBef>
                <a:spcPts val="1600"/>
              </a:spcBef>
            </a:pPr>
            <a:r>
              <a:rPr sz="1800">
                <a:solidFill>
                  <a:srgbClr val="D6E6F5"/>
                </a:solidFill>
              </a:rPr>
              <a:t>Turn due care, lapsed relationships, and recent visits into reviewable, consent-aware outreach with measurable outcomes.</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Recalls Due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Recalls Due surfaces who is due or overdue for recurring services such as immunisations, health checks, and repeat-prescription reviews. Rows are ranked by urgency and include a drafted message.</a:t>
            </a:r>
          </a:p>
          <a:p>
            <a:pPr>
              <a:spcAft>
                <a:spcPts val="600"/>
              </a:spcAft>
            </a:pPr>
            <a:r>
              <a:rPr sz="1400">
                <a:solidFill>
                  <a:srgbClr val="1B2733"/>
                </a:solidFill>
              </a:rPr>
              <a:t>Intervals can account for age and cohort. Filters and CSV/XLS exports let the team review the cohort before queuing anything. No campaign is sent merely because a person appears in a list.</a:t>
            </a:r>
          </a:p>
        </p:txBody>
      </p:sp>
      <p:pic>
        <p:nvPicPr>
          <p:cNvPr id="5" name="Picture 4" descr="03-reminders.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Lapsed Patients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Lapsed Patients finds people with no visit inside a chosen window and ranks them by lifetime value. Adjust the period to narrow or widen the cohort.</a:t>
            </a:r>
          </a:p>
          <a:p>
            <a:pPr>
              <a:spcAft>
                <a:spcPts val="600"/>
              </a:spcAft>
            </a:pPr>
            <a:r>
              <a:rPr sz="1400">
                <a:solidFill>
                  <a:srgbClr val="1B2733"/>
                </a:solidFill>
              </a:rPr>
              <a:t>The view supports a deliberate win-back workflow: verify the relationship and contact channel, review the drafted message, respect purpose and opt-out rules, then measure whether outreach resulted in a return visit.</a:t>
            </a:r>
          </a:p>
        </p:txBody>
      </p:sp>
      <p:pic>
        <p:nvPicPr>
          <p:cNvPr id="5" name="Picture 4" descr="04-lapsed.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Post-Visit Follow-up</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Post-Visit Follow-up lists recent visits—including post-procedure reviews—within a chosen 7, 14, 30, or 60-day window.</a:t>
            </a:r>
          </a:p>
          <a:p>
            <a:pPr>
              <a:spcAft>
                <a:spcPts val="600"/>
              </a:spcAft>
            </a:pPr>
            <a:r>
              <a:rPr sz="1400">
                <a:solidFill>
                  <a:srgbClr val="1B2733"/>
                </a:solidFill>
              </a:rPr>
              <a:t>Use it for operational check-ins, recovery calls, review requests, or rebooking. Marketing and necessary clinical follow-up must be treated as distinct purposes; deployment policy determines the correct lawful basis and channel.</a:t>
            </a:r>
          </a:p>
        </p:txBody>
      </p:sp>
      <p:pic>
        <p:nvPicPr>
          <p:cNvPr id="5" name="Picture 4" descr="05-followup.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The Recall Loop — queue, send, measure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Queue reviewed cohorts as persistent reminders. Every communication attempt is logged as sent, failed, or blocked, and marketing opt-outs are enforced at the point of delivery.</a:t>
            </a:r>
          </a:p>
          <a:p>
            <a:pPr>
              <a:spcAft>
                <a:spcPts val="600"/>
              </a:spcAft>
            </a:pPr>
            <a:r>
              <a:rPr sz="1400">
                <a:solidFill>
                  <a:srgbClr val="1B2733"/>
                </a:solidFill>
              </a:rPr>
              <a:t>The loop tracks pending work, delivery outcomes, blocked contacts, and the 30-day return rate. This provides an operational record of what the clinic did, not merely a static export of who appeared eligible.</a:t>
            </a:r>
          </a:p>
        </p:txBody>
      </p:sp>
      <p:pic>
        <p:nvPicPr>
          <p:cNvPr id="5" name="Picture 4" descr="06-loop.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04</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Reach, automate &amp; integrate</a:t>
            </a:r>
          </a:p>
          <a:p>
            <a:pPr>
              <a:spcBef>
                <a:spcPts val="1600"/>
              </a:spcBef>
            </a:pPr>
            <a:r>
              <a:rPr sz="1800">
                <a:solidFill>
                  <a:srgbClr val="D6E6F5"/>
                </a:solidFill>
              </a:rPr>
              <a:t>Connect approved communication providers, use the assistant responsibly, expose typed APIs, and keep clinical and operational stores under control.</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SMS &amp; Email</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Send through configured SMS and email providers after reviewing the recipient, purpose, and message. FastClinic suppresses opted-out marketing contacts at send time and retains immutable delivery outcomes.</a:t>
            </a:r>
          </a:p>
          <a:p>
            <a:pPr>
              <a:spcAft>
                <a:spcPts val="600"/>
              </a:spcAft>
            </a:pPr>
            <a:r>
              <a:rPr sz="1400">
                <a:solidFill>
                  <a:srgbClr val="1B2733"/>
                </a:solidFill>
              </a:rPr>
              <a:t>Provider contracts, data location, processor terms, retention, and transfer controls remain deployment decisions. In environments without a configured provider, cohorts can still be exported for an approved clinic workflow.</a:t>
            </a:r>
          </a:p>
        </p:txBody>
      </p:sp>
      <p:pic>
        <p:nvPicPr>
          <p:cNvPr id="5" name="Picture 4" descr="13-sms.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AI Assistant</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full-page assistant supports deeper operational questions across revenue, scheduling, patients, and recall. Its agent tools are read-oriented and its evaluation suite checks grounding, tool routing, supported languages, privacy, prompt injection, safety, robustness, streaming, and memory.</a:t>
            </a:r>
          </a:p>
          <a:p>
            <a:pPr>
              <a:spcAft>
                <a:spcPts val="600"/>
              </a:spcAft>
            </a:pPr>
            <a:r>
              <a:rPr sz="1400">
                <a:solidFill>
                  <a:srgbClr val="1B2733"/>
                </a:solidFill>
              </a:rPr>
              <a:t>Before real patient data is introduced, clinics must resolve the model provider, EU/EEA processing location, contracts, minimisation, retention, human oversight, and international-transfer position.</a:t>
            </a:r>
          </a:p>
        </p:txBody>
      </p:sp>
      <p:pic>
        <p:nvPicPr>
          <p:cNvPr id="5" name="Picture 4" descr="15-ai.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Web Presence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audit suite checks how the clinic appears in search and AI answer engines, then writes dated reports for review. It complements patient retention with a top-of-funnel view of how prospective patients discover the clinic.</a:t>
            </a:r>
          </a:p>
          <a:p>
            <a:pPr>
              <a:spcAft>
                <a:spcPts val="600"/>
              </a:spcAft>
            </a:pPr>
            <a:r>
              <a:rPr sz="1400">
                <a:solidFill>
                  <a:srgbClr val="1B2733"/>
                </a:solidFill>
              </a:rPr>
              <a:t>Keep published clinical claims, pricing, professional credentials, and privacy notices under human approval; the audit identifies issues but does not publish changes automatically.</a:t>
            </a:r>
          </a:p>
        </p:txBody>
      </p:sp>
      <p:pic>
        <p:nvPicPr>
          <p:cNvPr id="5" name="Picture 4" descr="16-seo.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Developer API</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The API is typed and versioned. Destructive verbs use domain-safe semantics: archive, cancel, refund, or reverse rather than bypassing clinical and financial history. FastBooking uses a separate least-privilege token.</a:t>
            </a:r>
          </a:p>
        </p:txBody>
      </p:sp>
      <p:graphicFrame>
        <p:nvGraphicFramePr>
          <p:cNvPr id="5" name="Table 4"/>
          <p:cNvGraphicFramePr>
            <a:graphicFrameLocks noGrp="1"/>
          </p:cNvGraphicFramePr>
          <p:nvPr/>
        </p:nvGraphicFramePr>
        <p:xfrm>
          <a:off x="502920" y="1783080"/>
          <a:ext cx="11185853" cy="4572000"/>
        </p:xfrm>
        <a:graphic>
          <a:graphicData uri="http://schemas.openxmlformats.org/drawingml/2006/table">
            <a:tbl>
              <a:tblPr firstRow="1" bandRow="1">
                <a:tableStyleId>{5C22544A-7EE6-4342-B048-85BDC9FD1C3A}</a:tableStyleId>
              </a:tblPr>
              <a:tblGrid>
                <a:gridCol w="2908322"/>
                <a:gridCol w="1789736"/>
                <a:gridCol w="6487795"/>
              </a:tblGrid>
              <a:tr h="653142">
                <a:tc>
                  <a:txBody>
                    <a:bodyPr/>
                    <a:lstStyle/>
                    <a:p>
                      <a:r>
                        <a:rPr sz="1000" b="1">
                          <a:solidFill>
                            <a:srgbClr val="FFFFFF"/>
                          </a:solidFill>
                        </a:rPr>
                        <a:t>Surface</a:t>
                      </a:r>
                    </a:p>
                  </a:txBody>
                  <a:tcPr marL="54864" marR="54864" marT="9144" marB="9144" anchor="ctr">
                    <a:solidFill>
                      <a:srgbClr val="1E6FB8"/>
                    </a:solidFill>
                  </a:tcPr>
                </a:tc>
                <a:tc>
                  <a:txBody>
                    <a:bodyPr/>
                    <a:lstStyle/>
                    <a:p>
                      <a:r>
                        <a:rPr sz="1000" b="1">
                          <a:solidFill>
                            <a:srgbClr val="FFFFFF"/>
                          </a:solidFill>
                        </a:rPr>
                        <a:t>Location</a:t>
                      </a:r>
                    </a:p>
                  </a:txBody>
                  <a:tcPr marL="54864" marR="54864" marT="9144" marB="9144" anchor="ctr">
                    <a:solidFill>
                      <a:srgbClr val="1E6FB8"/>
                    </a:solidFill>
                  </a:tcPr>
                </a:tc>
                <a:tc>
                  <a:txBody>
                    <a:bodyPr/>
                    <a:lstStyle/>
                    <a:p>
                      <a:r>
                        <a:rPr sz="1000" b="1">
                          <a:solidFill>
                            <a:srgbClr val="FFFFFF"/>
                          </a:solidFill>
                        </a:rPr>
                        <a:t>Access model</a:t>
                      </a:r>
                    </a:p>
                  </a:txBody>
                  <a:tcPr marL="54864" marR="54864" marT="9144" marB="9144" anchor="ctr">
                    <a:solidFill>
                      <a:srgbClr val="1E6FB8"/>
                    </a:solidFill>
                  </a:tcPr>
                </a:tc>
              </a:tr>
              <a:tr h="653142">
                <a:tc>
                  <a:txBody>
                    <a:bodyPr/>
                    <a:lstStyle/>
                    <a:p>
                      <a:r>
                        <a:rPr sz="1000">
                          <a:solidFill>
                            <a:srgbClr val="1B2733"/>
                          </a:solidFill>
                        </a:rPr>
                        <a:t>Human guide</a:t>
                      </a:r>
                    </a:p>
                  </a:txBody>
                  <a:tcPr marL="54864" marR="54864" marT="9144" marB="9144" anchor="ctr">
                    <a:solidFill>
                      <a:srgbClr val="FFFFFF"/>
                    </a:solidFill>
                  </a:tcPr>
                </a:tc>
                <a:tc>
                  <a:txBody>
                    <a:bodyPr/>
                    <a:lstStyle/>
                    <a:p>
                      <a:r>
                        <a:rPr sz="1000">
                          <a:solidFill>
                            <a:srgbClr val="17568F"/>
                          </a:solidFill>
                          <a:latin typeface="Consolas"/>
                        </a:rPr>
                        <a:t>https://fastclinic.dev/developers</a:t>
                      </a:r>
                    </a:p>
                  </a:txBody>
                  <a:tcPr marL="54864" marR="54864" marT="9144" marB="9144" anchor="ctr">
                    <a:solidFill>
                      <a:srgbClr val="FFFFFF"/>
                    </a:solidFill>
                  </a:tcPr>
                </a:tc>
                <a:tc>
                  <a:txBody>
                    <a:bodyPr/>
                    <a:lstStyle/>
                    <a:p>
                      <a:r>
                        <a:rPr sz="1000">
                          <a:solidFill>
                            <a:srgbClr val="1B2733"/>
                          </a:solidFill>
                        </a:rPr>
                        <a:t>Public</a:t>
                      </a:r>
                    </a:p>
                  </a:txBody>
                  <a:tcPr marL="54864" marR="54864" marT="9144" marB="9144" anchor="ctr">
                    <a:solidFill>
                      <a:srgbClr val="FFFFFF"/>
                    </a:solidFill>
                  </a:tcPr>
                </a:tc>
              </a:tr>
              <a:tr h="653142">
                <a:tc>
                  <a:txBody>
                    <a:bodyPr/>
                    <a:lstStyle/>
                    <a:p>
                      <a:r>
                        <a:rPr sz="1000">
                          <a:solidFill>
                            <a:srgbClr val="1B2733"/>
                          </a:solidFill>
                        </a:rPr>
                        <a:t>Swagger UI</a:t>
                      </a:r>
                    </a:p>
                  </a:txBody>
                  <a:tcPr marL="54864" marR="54864" marT="9144" marB="9144" anchor="ctr">
                    <a:solidFill>
                      <a:srgbClr val="EEF4FA"/>
                    </a:solidFill>
                  </a:tcPr>
                </a:tc>
                <a:tc>
                  <a:txBody>
                    <a:bodyPr/>
                    <a:lstStyle/>
                    <a:p>
                      <a:r>
                        <a:rPr sz="1000">
                          <a:solidFill>
                            <a:srgbClr val="17568F"/>
                          </a:solidFill>
                          <a:latin typeface="Consolas"/>
                        </a:rPr>
                        <a:t>/api/docs</a:t>
                      </a:r>
                    </a:p>
                  </a:txBody>
                  <a:tcPr marL="54864" marR="54864" marT="9144" marB="9144" anchor="ctr">
                    <a:solidFill>
                      <a:srgbClr val="EEF4FA"/>
                    </a:solidFill>
                  </a:tcPr>
                </a:tc>
                <a:tc>
                  <a:txBody>
                    <a:bodyPr/>
                    <a:lstStyle/>
                    <a:p>
                      <a:r>
                        <a:rPr sz="1000">
                          <a:solidFill>
                            <a:srgbClr val="1B2733"/>
                          </a:solidFill>
                        </a:rPr>
                        <a:t>Public documentation</a:t>
                      </a:r>
                    </a:p>
                  </a:txBody>
                  <a:tcPr marL="54864" marR="54864" marT="9144" marB="9144" anchor="ctr">
                    <a:solidFill>
                      <a:srgbClr val="EEF4FA"/>
                    </a:solidFill>
                  </a:tcPr>
                </a:tc>
              </a:tr>
              <a:tr h="653142">
                <a:tc>
                  <a:txBody>
                    <a:bodyPr/>
                    <a:lstStyle/>
                    <a:p>
                      <a:r>
                        <a:rPr sz="1000">
                          <a:solidFill>
                            <a:srgbClr val="1B2733"/>
                          </a:solidFill>
                        </a:rPr>
                        <a:t>OpenAPI</a:t>
                      </a:r>
                    </a:p>
                  </a:txBody>
                  <a:tcPr marL="54864" marR="54864" marT="9144" marB="9144" anchor="ctr">
                    <a:solidFill>
                      <a:srgbClr val="FFFFFF"/>
                    </a:solidFill>
                  </a:tcPr>
                </a:tc>
                <a:tc>
                  <a:txBody>
                    <a:bodyPr/>
                    <a:lstStyle/>
                    <a:p>
                      <a:r>
                        <a:rPr sz="1000">
                          <a:solidFill>
                            <a:srgbClr val="17568F"/>
                          </a:solidFill>
                          <a:latin typeface="Consolas"/>
                        </a:rPr>
                        <a:t>/api/openapi.json</a:t>
                      </a:r>
                      <a:r>
                        <a:rPr sz="1000">
                          <a:solidFill>
                            <a:srgbClr val="1B2733"/>
                          </a:solidFill>
                        </a:rPr>
                        <a:t> and </a:t>
                      </a:r>
                      <a:r>
                        <a:rPr sz="1000">
                          <a:solidFill>
                            <a:srgbClr val="17568F"/>
                          </a:solidFill>
                          <a:latin typeface="Consolas"/>
                        </a:rPr>
                        <a:t>/swagger.json</a:t>
                      </a:r>
                    </a:p>
                  </a:txBody>
                  <a:tcPr marL="54864" marR="54864" marT="9144" marB="9144" anchor="ctr">
                    <a:solidFill>
                      <a:srgbClr val="FFFFFF"/>
                    </a:solidFill>
                  </a:tcPr>
                </a:tc>
                <a:tc>
                  <a:txBody>
                    <a:bodyPr/>
                    <a:lstStyle/>
                    <a:p>
                      <a:r>
                        <a:rPr sz="1000">
                          <a:solidFill>
                            <a:srgbClr val="1B2733"/>
                          </a:solidFill>
                        </a:rPr>
                        <a:t>Public schema</a:t>
                      </a:r>
                    </a:p>
                  </a:txBody>
                  <a:tcPr marL="54864" marR="54864" marT="9144" marB="9144" anchor="ctr">
                    <a:solidFill>
                      <a:srgbClr val="FFFFFF"/>
                    </a:solidFill>
                  </a:tcPr>
                </a:tc>
              </a:tr>
              <a:tr h="653142">
                <a:tc>
                  <a:txBody>
                    <a:bodyPr/>
                    <a:lstStyle/>
                    <a:p>
                      <a:r>
                        <a:rPr sz="1000">
                          <a:solidFill>
                            <a:srgbClr val="1B2733"/>
                          </a:solidFill>
                        </a:rPr>
                        <a:t>Clinical reads &amp; analytics</a:t>
                      </a:r>
                    </a:p>
                  </a:txBody>
                  <a:tcPr marL="54864" marR="54864" marT="9144" marB="9144" anchor="ctr">
                    <a:solidFill>
                      <a:srgbClr val="EEF4FA"/>
                    </a:solidFill>
                  </a:tcPr>
                </a:tc>
                <a:tc>
                  <a:txBody>
                    <a:bodyPr/>
                    <a:lstStyle/>
                    <a:p>
                      <a:r>
                        <a:rPr sz="1000">
                          <a:solidFill>
                            <a:srgbClr val="17568F"/>
                          </a:solidFill>
                          <a:latin typeface="Consolas"/>
                        </a:rPr>
                        <a:t>/api/v1/...</a:t>
                      </a:r>
                    </a:p>
                  </a:txBody>
                  <a:tcPr marL="54864" marR="54864" marT="9144" marB="9144" anchor="ctr">
                    <a:solidFill>
                      <a:srgbClr val="EEF4FA"/>
                    </a:solidFill>
                  </a:tcPr>
                </a:tc>
                <a:tc>
                  <a:txBody>
                    <a:bodyPr/>
                    <a:lstStyle/>
                    <a:p>
                      <a:r>
                        <a:rPr sz="1000">
                          <a:solidFill>
                            <a:srgbClr val="1B2733"/>
                          </a:solidFill>
                        </a:rPr>
                        <a:t>Public synthetic reads</a:t>
                      </a:r>
                    </a:p>
                  </a:txBody>
                  <a:tcPr marL="54864" marR="54864" marT="9144" marB="9144" anchor="ctr">
                    <a:solidFill>
                      <a:srgbClr val="EEF4FA"/>
                    </a:solidFill>
                  </a:tcPr>
                </a:tc>
              </a:tr>
              <a:tr h="653142">
                <a:tc>
                  <a:txBody>
                    <a:bodyPr/>
                    <a:lstStyle/>
                    <a:p>
                      <a:r>
                        <a:rPr sz="1000">
                          <a:solidFill>
                            <a:srgbClr val="1B2733"/>
                          </a:solidFill>
                        </a:rPr>
                        <a:t>Clinical CRUD</a:t>
                      </a:r>
                    </a:p>
                  </a:txBody>
                  <a:tcPr marL="54864" marR="54864" marT="9144" marB="9144" anchor="ctr">
                    <a:solidFill>
                      <a:srgbClr val="FFFFFF"/>
                    </a:solidFill>
                  </a:tcPr>
                </a:tc>
                <a:tc>
                  <a:txBody>
                    <a:bodyPr/>
                    <a:lstStyle/>
                    <a:p>
                      <a:r>
                        <a:rPr sz="1000">
                          <a:solidFill>
                            <a:srgbClr val="1B2733"/>
                          </a:solidFill>
                        </a:rPr>
                        <a:t>Patients, parties, relationships, notes</a:t>
                      </a:r>
                    </a:p>
                  </a:txBody>
                  <a:tcPr marL="54864" marR="54864" marT="9144" marB="9144" anchor="ctr">
                    <a:solidFill>
                      <a:srgbClr val="FFFFFF"/>
                    </a:solidFill>
                  </a:tcPr>
                </a:tc>
                <a:tc>
                  <a:txBody>
                    <a:bodyPr/>
                    <a:lstStyle/>
                    <a:p>
                      <a:r>
                        <a:rPr sz="1000">
                          <a:solidFill>
                            <a:srgbClr val="1B2733"/>
                          </a:solidFill>
                        </a:rPr>
                        <a:t>Bearer token</a:t>
                      </a:r>
                    </a:p>
                  </a:txBody>
                  <a:tcPr marL="54864" marR="54864" marT="9144" marB="9144" anchor="ctr">
                    <a:solidFill>
                      <a:srgbClr val="FFFFFF"/>
                    </a:solidFill>
                  </a:tcPr>
                </a:tc>
              </a:tr>
              <a:tr h="653148">
                <a:tc>
                  <a:txBody>
                    <a:bodyPr/>
                    <a:lstStyle/>
                    <a:p>
                      <a:r>
                        <a:rPr sz="1000">
                          <a:solidFill>
                            <a:srgbClr val="1B2733"/>
                          </a:solidFill>
                        </a:rPr>
                        <a:t>Operations</a:t>
                      </a:r>
                    </a:p>
                  </a:txBody>
                  <a:tcPr marL="54864" marR="54864" marT="9144" marB="9144" anchor="ctr">
                    <a:solidFill>
                      <a:srgbClr val="EEF4FA"/>
                    </a:solidFill>
                  </a:tcPr>
                </a:tc>
                <a:tc>
                  <a:txBody>
                    <a:bodyPr/>
                    <a:lstStyle/>
                    <a:p>
                      <a:r>
                        <a:rPr sz="1000">
                          <a:solidFill>
                            <a:srgbClr val="1B2733"/>
                          </a:solidFill>
                        </a:rPr>
                        <a:t>Appointments, recall, communications, billing, audit</a:t>
                      </a:r>
                    </a:p>
                  </a:txBody>
                  <a:tcPr marL="54864" marR="54864" marT="9144" marB="9144" anchor="ctr">
                    <a:solidFill>
                      <a:srgbClr val="EEF4FA"/>
                    </a:solidFill>
                  </a:tcPr>
                </a:tc>
                <a:tc>
                  <a:txBody>
                    <a:bodyPr/>
                    <a:lstStyle/>
                    <a:p>
                      <a:r>
                        <a:rPr sz="1000">
                          <a:solidFill>
                            <a:srgbClr val="1B2733"/>
                          </a:solidFill>
                        </a:rPr>
                        <a:t>Bearer token</a:t>
                      </a:r>
                    </a:p>
                  </a:txBody>
                  <a:tcPr marL="54864" marR="54864" marT="9144" marB="9144" anchor="ctr">
                    <a:solidFill>
                      <a:srgbClr val="EEF4FA"/>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Data, import &amp; database backends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synthetic clinical model can run on </a:t>
            </a:r>
            <a:r>
              <a:rPr b="1" sz="1400">
                <a:solidFill>
                  <a:srgbClr val="17568F"/>
                </a:solidFill>
              </a:rPr>
              <a:t>SQLite</a:t>
            </a:r>
            <a:r>
              <a:rPr sz="1400">
                <a:solidFill>
                  <a:srgbClr val="1B2733"/>
                </a:solidFill>
              </a:rPr>
              <a:t> or </a:t>
            </a:r>
            <a:r>
              <a:rPr b="1" sz="1400">
                <a:solidFill>
                  <a:srgbClr val="17568F"/>
                </a:solidFill>
              </a:rPr>
              <a:t>PostgreSQL</a:t>
            </a:r>
            <a:r>
              <a:rPr sz="1400">
                <a:solidFill>
                  <a:srgbClr val="1B2733"/>
                </a:solidFill>
              </a:rPr>
              <a:t>. Production PostgreSQL data is isolated in the </a:t>
            </a:r>
            <a:r>
              <a:rPr sz="1400">
                <a:solidFill>
                  <a:srgbClr val="17568F"/>
                </a:solidFill>
                <a:latin typeface="Consolas"/>
              </a:rPr>
              <a:t>fast_clinic</a:t>
            </a:r>
            <a:r>
              <a:rPr sz="1400">
                <a:solidFill>
                  <a:srgbClr val="1B2733"/>
                </a:solidFill>
              </a:rPr>
              <a:t> schema; operational state such as chat, appointments, reminders, billing, and audit records remains separately configured.</a:t>
            </a:r>
          </a:p>
          <a:p>
            <a:pPr>
              <a:spcAft>
                <a:spcPts val="600"/>
              </a:spcAft>
            </a:pPr>
            <a:r>
              <a:rPr sz="1400">
                <a:solidFill>
                  <a:srgbClr val="1B2733"/>
                </a:solidFill>
              </a:rPr>
              <a:t>The migration verifies table counts, subject/party relationships, orphan checks, and the treatment-revenue checksum before commit. The public demo and repository continue to contain synthetic data only—no PHI.</a:t>
            </a:r>
          </a:p>
        </p:txBody>
      </p:sp>
      <p:pic>
        <p:nvPicPr>
          <p:cNvPr id="5" name="Picture 4" descr="17-data.png"/>
          <p:cNvPicPr>
            <a:picLocks noChangeAspect="1"/>
          </p:cNvPicPr>
          <p:nvPr/>
        </p:nvPicPr>
        <p:blipFill>
          <a:blip r:embed="rId2"/>
          <a:stretch>
            <a:fillRect/>
          </a:stretch>
        </p:blipFill>
        <p:spPr>
          <a:xfrm>
            <a:off x="6492240" y="1280160"/>
            <a:ext cx="5212080" cy="325755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05</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Compliance &amp; interoperability</a:t>
            </a:r>
          </a:p>
          <a:p>
            <a:pPr>
              <a:spcBef>
                <a:spcPts val="1600"/>
              </a:spcBef>
            </a:pPr>
            <a:r>
              <a:rPr sz="1800">
                <a:solidFill>
                  <a:srgbClr val="D6E6F5"/>
                </a:solidFill>
              </a:rPr>
              <a:t>FastClinic's Europe-first design approach, current limitations, and potential FHIR/EHDS integration path. See fastclinic.dev/compliance for the full public statement.</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Compliance posture — current vs planned</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568F"/>
                </a:solidFill>
              </a:rPr>
              <a:t>Available today</a:t>
            </a:r>
          </a:p>
          <a:p>
            <a:pPr>
              <a:spcAft>
                <a:spcPts val="600"/>
              </a:spcAft>
            </a:pPr>
            <a:r>
              <a:rPr sz="1400">
                <a:solidFill>
                  <a:srgbClr val="1B2733"/>
                </a:solidFill>
              </a:rPr>
              <a:t>• Synthetic public demo and repository; no PHI.</a:t>
            </a:r>
          </a:p>
          <a:p>
            <a:pPr>
              <a:spcAft>
                <a:spcPts val="600"/>
              </a:spcAft>
            </a:pPr>
            <a:r>
              <a:rPr sz="1400">
                <a:solidFill>
                  <a:srgbClr val="1B2733"/>
                </a:solidFill>
              </a:rPr>
              <a:t>• Separate subject-of-care and party/representative model.</a:t>
            </a:r>
          </a:p>
          <a:p>
            <a:pPr>
              <a:spcAft>
                <a:spcPts val="600"/>
              </a:spcAft>
            </a:pPr>
            <a:r>
              <a:rPr sz="1400">
                <a:solidFill>
                  <a:srgbClr val="1B2733"/>
                </a:solidFill>
              </a:rPr>
              <a:t>• Consent-aware communications, mutation audit events, persistent conversation history, typed API, and balanced accounting.</a:t>
            </a:r>
          </a:p>
          <a:p>
            <a:pPr>
              <a:spcAft>
                <a:spcPts val="600"/>
              </a:spcAft>
            </a:pPr>
            <a:r>
              <a:rPr b="1" sz="1400">
                <a:solidFill>
                  <a:srgbClr val="17568F"/>
                </a:solidFill>
              </a:rPr>
              <a:t>Required before production health-data deployment</a:t>
            </a:r>
          </a:p>
          <a:p>
            <a:pPr>
              <a:spcAft>
                <a:spcPts val="600"/>
              </a:spcAft>
            </a:pPr>
            <a:r>
              <a:rPr sz="1400">
                <a:solidFill>
                  <a:srgbClr val="1B2733"/>
                </a:solidFill>
              </a:rPr>
              <a:t>• Enforceable EU/EEA data residency, encryption and key management, fine-grained RBAC, MFA/SSO paths, append-only audit evidence, retention and legal holds.</a:t>
            </a:r>
          </a:p>
          <a:p>
            <a:pPr>
              <a:spcAft>
                <a:spcPts val="600"/>
              </a:spcAft>
            </a:pPr>
            <a:r>
              <a:rPr sz="1400">
                <a:solidFill>
                  <a:srgbClr val="1B2733"/>
                </a:solidFill>
              </a:rPr>
              <a:t>• DPIA and processing records, processor agreements, incident procedures, backup/recovery evidence, and national legal review.</a:t>
            </a:r>
          </a:p>
          <a:p>
            <a:pPr>
              <a:spcAft>
                <a:spcPts val="600"/>
              </a:spcAft>
            </a:pPr>
            <a:r>
              <a:rPr sz="1400">
                <a:solidFill>
                  <a:srgbClr val="1B2733"/>
                </a:solidFill>
              </a:rPr>
              <a:t>FastClinic does </a:t>
            </a:r>
            <a:r>
              <a:rPr b="1" sz="1400">
                <a:solidFill>
                  <a:srgbClr val="17568F"/>
                </a:solidFill>
              </a:rPr>
              <a:t>not</a:t>
            </a:r>
            <a:r>
              <a:rPr sz="1400">
                <a:solidFill>
                  <a:srgbClr val="1B2733"/>
                </a:solidFill>
              </a:rPr>
              <a:t> currently claim ISO 27001/27701 certification, production EHR conformity, or automatic legal compliance for a deploying clinic.</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GDPR integration approach</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FastClinic is designed to give the clinic controller usable controls and the processor relationship auditable evidence.</a:t>
            </a:r>
          </a:p>
          <a:p>
            <a:pPr>
              <a:spcAft>
                <a:spcPts val="600"/>
              </a:spcAft>
            </a:pPr>
            <a:r>
              <a:rPr sz="1400">
                <a:solidFill>
                  <a:srgbClr val="1B2733"/>
                </a:solidFill>
              </a:rPr>
              <a:t>Legal basis, national retention duties, controller responsibilities, and whether a DPO is required remain deployment-specific decisions.</a:t>
            </a:r>
          </a:p>
        </p:txBody>
      </p:sp>
      <p:graphicFrame>
        <p:nvGraphicFramePr>
          <p:cNvPr id="5" name="Table 4"/>
          <p:cNvGraphicFramePr>
            <a:graphicFrameLocks noGrp="1"/>
          </p:cNvGraphicFramePr>
          <p:nvPr/>
        </p:nvGraphicFramePr>
        <p:xfrm>
          <a:off x="502920" y="1783080"/>
          <a:ext cx="11185855" cy="4572000"/>
        </p:xfrm>
        <a:graphic>
          <a:graphicData uri="http://schemas.openxmlformats.org/drawingml/2006/table">
            <a:tbl>
              <a:tblPr firstRow="1" bandRow="1">
                <a:tableStyleId>{5C22544A-7EE6-4342-B048-85BDC9FD1C3A}</a:tableStyleId>
              </a:tblPr>
              <a:tblGrid>
                <a:gridCol w="5592927"/>
                <a:gridCol w="5592928"/>
              </a:tblGrid>
              <a:tr h="571500">
                <a:tc>
                  <a:txBody>
                    <a:bodyPr/>
                    <a:lstStyle/>
                    <a:p>
                      <a:r>
                        <a:rPr sz="1000" b="1">
                          <a:solidFill>
                            <a:srgbClr val="FFFFFF"/>
                          </a:solidFill>
                        </a:rPr>
                        <a:t>Concern</a:t>
                      </a:r>
                    </a:p>
                  </a:txBody>
                  <a:tcPr marL="54864" marR="54864" marT="9144" marB="9144" anchor="ctr">
                    <a:solidFill>
                      <a:srgbClr val="1E6FB8"/>
                    </a:solidFill>
                  </a:tcPr>
                </a:tc>
                <a:tc>
                  <a:txBody>
                    <a:bodyPr/>
                    <a:lstStyle/>
                    <a:p>
                      <a:r>
                        <a:rPr sz="1000" b="1">
                          <a:solidFill>
                            <a:srgbClr val="FFFFFF"/>
                          </a:solidFill>
                        </a:rPr>
                        <a:t>Product / adapter approach</a:t>
                      </a:r>
                    </a:p>
                  </a:txBody>
                  <a:tcPr marL="54864" marR="54864" marT="9144" marB="9144" anchor="ctr">
                    <a:solidFill>
                      <a:srgbClr val="1E6FB8"/>
                    </a:solidFill>
                  </a:tcPr>
                </a:tc>
              </a:tr>
              <a:tr h="571500">
                <a:tc>
                  <a:txBody>
                    <a:bodyPr/>
                    <a:lstStyle/>
                    <a:p>
                      <a:r>
                        <a:rPr sz="1000">
                          <a:solidFill>
                            <a:srgbClr val="1B2733"/>
                          </a:solidFill>
                        </a:rPr>
                        <a:t>Privacy by design</a:t>
                      </a:r>
                    </a:p>
                  </a:txBody>
                  <a:tcPr marL="54864" marR="54864" marT="9144" marB="9144" anchor="ctr">
                    <a:solidFill>
                      <a:srgbClr val="FFFFFF"/>
                    </a:solidFill>
                  </a:tcPr>
                </a:tc>
                <a:tc>
                  <a:txBody>
                    <a:bodyPr/>
                    <a:lstStyle/>
                    <a:p>
                      <a:r>
                        <a:rPr sz="1000">
                          <a:solidFill>
                            <a:srgbClr val="1B2733"/>
                          </a:solidFill>
                        </a:rPr>
                        <a:t>Minimise data, isolate environments, apply least privilege and secure defaults</a:t>
                      </a:r>
                    </a:p>
                  </a:txBody>
                  <a:tcPr marL="54864" marR="54864" marT="9144" marB="9144" anchor="ctr">
                    <a:solidFill>
                      <a:srgbClr val="FFFFFF"/>
                    </a:solidFill>
                  </a:tcPr>
                </a:tc>
              </a:tr>
              <a:tr h="571500">
                <a:tc>
                  <a:txBody>
                    <a:bodyPr/>
                    <a:lstStyle/>
                    <a:p>
                      <a:r>
                        <a:rPr sz="1000">
                          <a:solidFill>
                            <a:srgbClr val="1B2733"/>
                          </a:solidFill>
                        </a:rPr>
                        <a:t>Lawful purpose</a:t>
                      </a:r>
                    </a:p>
                  </a:txBody>
                  <a:tcPr marL="54864" marR="54864" marT="9144" marB="9144" anchor="ctr">
                    <a:solidFill>
                      <a:srgbClr val="EEF4FA"/>
                    </a:solidFill>
                  </a:tcPr>
                </a:tc>
                <a:tc>
                  <a:txBody>
                    <a:bodyPr/>
                    <a:lstStyle/>
                    <a:p>
                      <a:r>
                        <a:rPr sz="1000">
                          <a:solidFill>
                            <a:srgbClr val="1B2733"/>
                          </a:solidFill>
                        </a:rPr>
                        <a:t>Keep health-care operations distinct from marketing consent and opt-out</a:t>
                      </a:r>
                    </a:p>
                  </a:txBody>
                  <a:tcPr marL="54864" marR="54864" marT="9144" marB="9144" anchor="ctr">
                    <a:solidFill>
                      <a:srgbClr val="EEF4FA"/>
                    </a:solidFill>
                  </a:tcPr>
                </a:tc>
              </a:tr>
              <a:tr h="571500">
                <a:tc>
                  <a:txBody>
                    <a:bodyPr/>
                    <a:lstStyle/>
                    <a:p>
                      <a:r>
                        <a:rPr sz="1000">
                          <a:solidFill>
                            <a:srgbClr val="1B2733"/>
                          </a:solidFill>
                        </a:rPr>
                        <a:t>Patient rights</a:t>
                      </a:r>
                    </a:p>
                  </a:txBody>
                  <a:tcPr marL="54864" marR="54864" marT="9144" marB="9144" anchor="ctr">
                    <a:solidFill>
                      <a:srgbClr val="FFFFFF"/>
                    </a:solidFill>
                  </a:tcPr>
                </a:tc>
                <a:tc>
                  <a:txBody>
                    <a:bodyPr/>
                    <a:lstStyle/>
                    <a:p>
                      <a:r>
                        <a:rPr sz="1000">
                          <a:solidFill>
                            <a:srgbClr val="1B2733"/>
                          </a:solidFill>
                        </a:rPr>
                        <a:t>Locate, explain, export, restrict, rectify, or erase where legally permitted</a:t>
                      </a:r>
                    </a:p>
                  </a:txBody>
                  <a:tcPr marL="54864" marR="54864" marT="9144" marB="9144" anchor="ctr">
                    <a:solidFill>
                      <a:srgbClr val="FFFFFF"/>
                    </a:solidFill>
                  </a:tcPr>
                </a:tc>
              </a:tr>
              <a:tr h="571500">
                <a:tc>
                  <a:txBody>
                    <a:bodyPr/>
                    <a:lstStyle/>
                    <a:p>
                      <a:r>
                        <a:rPr sz="1000">
                          <a:solidFill>
                            <a:srgbClr val="1B2733"/>
                          </a:solidFill>
                        </a:rPr>
                        <a:t>Representatives</a:t>
                      </a:r>
                    </a:p>
                  </a:txBody>
                  <a:tcPr marL="54864" marR="54864" marT="9144" marB="9144" anchor="ctr">
                    <a:solidFill>
                      <a:srgbClr val="EEF4FA"/>
                    </a:solidFill>
                  </a:tcPr>
                </a:tc>
                <a:tc>
                  <a:txBody>
                    <a:bodyPr/>
                    <a:lstStyle/>
                    <a:p>
                      <a:r>
                        <a:rPr sz="1000">
                          <a:solidFill>
                            <a:srgbClr val="1B2733"/>
                          </a:solidFill>
                        </a:rPr>
                        <a:t>Route minors and represented adults through the authorised party relationship</a:t>
                      </a:r>
                    </a:p>
                  </a:txBody>
                  <a:tcPr marL="54864" marR="54864" marT="9144" marB="9144" anchor="ctr">
                    <a:solidFill>
                      <a:srgbClr val="EEF4FA"/>
                    </a:solidFill>
                  </a:tcPr>
                </a:tc>
              </a:tr>
              <a:tr h="571500">
                <a:tc>
                  <a:txBody>
                    <a:bodyPr/>
                    <a:lstStyle/>
                    <a:p>
                      <a:r>
                        <a:rPr sz="1000">
                          <a:solidFill>
                            <a:srgbClr val="1B2733"/>
                          </a:solidFill>
                        </a:rPr>
                        <a:t>Retention</a:t>
                      </a:r>
                    </a:p>
                  </a:txBody>
                  <a:tcPr marL="54864" marR="54864" marT="9144" marB="9144" anchor="ctr">
                    <a:solidFill>
                      <a:srgbClr val="FFFFFF"/>
                    </a:solidFill>
                  </a:tcPr>
                </a:tc>
                <a:tc>
                  <a:txBody>
                    <a:bodyPr/>
                    <a:lstStyle/>
                    <a:p>
                      <a:r>
                        <a:rPr sz="1000">
                          <a:solidFill>
                            <a:srgbClr val="1B2733"/>
                          </a:solidFill>
                        </a:rPr>
                        <a:t>Country-configurable schedules and legal holds; erasure is not absolute for clinical records</a:t>
                      </a:r>
                    </a:p>
                  </a:txBody>
                  <a:tcPr marL="54864" marR="54864" marT="9144" marB="9144" anchor="ctr">
                    <a:solidFill>
                      <a:srgbClr val="FFFFFF"/>
                    </a:solidFill>
                  </a:tcPr>
                </a:tc>
              </a:tr>
              <a:tr h="571500">
                <a:tc>
                  <a:txBody>
                    <a:bodyPr/>
                    <a:lstStyle/>
                    <a:p>
                      <a:r>
                        <a:rPr sz="1000">
                          <a:solidFill>
                            <a:srgbClr val="1B2733"/>
                          </a:solidFill>
                        </a:rPr>
                        <a:t>Incidents</a:t>
                      </a:r>
                    </a:p>
                  </a:txBody>
                  <a:tcPr marL="54864" marR="54864" marT="9144" marB="9144" anchor="ctr">
                    <a:solidFill>
                      <a:srgbClr val="EEF4FA"/>
                    </a:solidFill>
                  </a:tcPr>
                </a:tc>
                <a:tc>
                  <a:txBody>
                    <a:bodyPr/>
                    <a:lstStyle/>
                    <a:p>
                      <a:r>
                        <a:rPr sz="1000">
                          <a:solidFill>
                            <a:srgbClr val="1B2733"/>
                          </a:solidFill>
                        </a:rPr>
                        <a:t>Structured logs and monitoring to support risk assessment and notification workflows</a:t>
                      </a:r>
                    </a:p>
                  </a:txBody>
                  <a:tcPr marL="54864" marR="54864" marT="9144" marB="9144" anchor="ctr">
                    <a:solidFill>
                      <a:srgbClr val="EEF4FA"/>
                    </a:solidFill>
                  </a:tcPr>
                </a:tc>
              </a:tr>
              <a:tr h="571500">
                <a:tc>
                  <a:txBody>
                    <a:bodyPr/>
                    <a:lstStyle/>
                    <a:p>
                      <a:r>
                        <a:rPr sz="1000">
                          <a:solidFill>
                            <a:srgbClr val="1B2733"/>
                          </a:solidFill>
                        </a:rPr>
                        <a:t>AI processing</a:t>
                      </a:r>
                    </a:p>
                  </a:txBody>
                  <a:tcPr marL="54864" marR="54864" marT="9144" marB="9144" anchor="ctr">
                    <a:solidFill>
                      <a:srgbClr val="FFFFFF"/>
                    </a:solidFill>
                  </a:tcPr>
                </a:tc>
                <a:tc>
                  <a:txBody>
                    <a:bodyPr/>
                    <a:lstStyle/>
                    <a:p>
                      <a:r>
                        <a:rPr sz="1000">
                          <a:solidFill>
                            <a:srgbClr val="1B2733"/>
                          </a:solidFill>
                        </a:rPr>
                        <a:t>Resolve provider location, contracts, transfers, minimisation, retention, and oversight first</a:t>
                      </a:r>
                    </a:p>
                  </a:txBody>
                  <a:tcPr marL="54864" marR="54864" marT="9144" marB="9144" anchor="ctr">
                    <a:solidFill>
                      <a:srgbClr val="FFFFFF"/>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FHIR R4 &amp; EHDS integration approach</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FastClinic keeps a </a:t>
            </a:r>
            <a:r>
              <a:rPr b="1" sz="1400">
                <a:solidFill>
                  <a:srgbClr val="17568F"/>
                </a:solidFill>
              </a:rPr>
              <a:t>normalised internal core</a:t>
            </a:r>
            <a:r>
              <a:rPr sz="1400">
                <a:solidFill>
                  <a:srgbClr val="1B2733"/>
                </a:solidFill>
              </a:rPr>
              <a:t> and places FHIR profiles, national identifiers, terminology, transport, and consent rules in adapters.</a:t>
            </a:r>
          </a:p>
          <a:p>
            <a:pPr>
              <a:spcAft>
                <a:spcPts val="600"/>
              </a:spcAft>
            </a:pPr>
            <a:r>
              <a:rPr sz="1400">
                <a:solidFill>
                  <a:srgbClr val="1B2733"/>
                </a:solidFill>
              </a:rPr>
              <a:t>FHIR R4 is the planned interoperability spine; conformant FHIR import/export, EHDS exchange-format support, and production national connections are roadmap work—not capabilities claimed by the current synthetic demo.</a:t>
            </a:r>
          </a:p>
        </p:txBody>
      </p:sp>
      <p:graphicFrame>
        <p:nvGraphicFramePr>
          <p:cNvPr id="5" name="Table 4"/>
          <p:cNvGraphicFramePr>
            <a:graphicFrameLocks noGrp="1"/>
          </p:cNvGraphicFramePr>
          <p:nvPr/>
        </p:nvGraphicFramePr>
        <p:xfrm>
          <a:off x="502920" y="1783080"/>
          <a:ext cx="11185855" cy="4572000"/>
        </p:xfrm>
        <a:graphic>
          <a:graphicData uri="http://schemas.openxmlformats.org/drawingml/2006/table">
            <a:tbl>
              <a:tblPr firstRow="1" bandRow="1">
                <a:tableStyleId>{5C22544A-7EE6-4342-B048-85BDC9FD1C3A}</a:tableStyleId>
              </a:tblPr>
              <a:tblGrid>
                <a:gridCol w="5592927"/>
                <a:gridCol w="5592928"/>
              </a:tblGrid>
              <a:tr h="571500">
                <a:tc>
                  <a:txBody>
                    <a:bodyPr/>
                    <a:lstStyle/>
                    <a:p>
                      <a:r>
                        <a:rPr sz="1000" b="1">
                          <a:solidFill>
                            <a:srgbClr val="FFFFFF"/>
                          </a:solidFill>
                        </a:rPr>
                        <a:t>FastClinic concept</a:t>
                      </a:r>
                    </a:p>
                  </a:txBody>
                  <a:tcPr marL="54864" marR="54864" marT="9144" marB="9144" anchor="ctr">
                    <a:solidFill>
                      <a:srgbClr val="1E6FB8"/>
                    </a:solidFill>
                  </a:tcPr>
                </a:tc>
                <a:tc>
                  <a:txBody>
                    <a:bodyPr/>
                    <a:lstStyle/>
                    <a:p>
                      <a:r>
                        <a:rPr sz="1000" b="1">
                          <a:solidFill>
                            <a:srgbClr val="FFFFFF"/>
                          </a:solidFill>
                        </a:rPr>
                        <a:t>Potential FHIR R4 boundary mapping</a:t>
                      </a:r>
                    </a:p>
                  </a:txBody>
                  <a:tcPr marL="54864" marR="54864" marT="9144" marB="9144" anchor="ctr">
                    <a:solidFill>
                      <a:srgbClr val="1E6FB8"/>
                    </a:solidFill>
                  </a:tcPr>
                </a:tc>
              </a:tr>
              <a:tr h="571500">
                <a:tc>
                  <a:txBody>
                    <a:bodyPr/>
                    <a:lstStyle/>
                    <a:p>
                      <a:r>
                        <a:rPr sz="1000">
                          <a:solidFill>
                            <a:srgbClr val="1B2733"/>
                          </a:solidFill>
                        </a:rPr>
                        <a:t>Subject of care</a:t>
                      </a:r>
                    </a:p>
                  </a:txBody>
                  <a:tcPr marL="54864" marR="54864" marT="9144" marB="9144" anchor="ctr">
                    <a:solidFill>
                      <a:srgbClr val="FFFFFF"/>
                    </a:solidFill>
                  </a:tcPr>
                </a:tc>
                <a:tc>
                  <a:txBody>
                    <a:bodyPr/>
                    <a:lstStyle/>
                    <a:p>
                      <a:r>
                        <a:rPr sz="1000">
                          <a:solidFill>
                            <a:srgbClr val="17568F"/>
                          </a:solidFill>
                          <a:latin typeface="Consolas"/>
                        </a:rPr>
                        <a:t>Patient</a:t>
                      </a:r>
                    </a:p>
                  </a:txBody>
                  <a:tcPr marL="54864" marR="54864" marT="9144" marB="9144" anchor="ctr">
                    <a:solidFill>
                      <a:srgbClr val="FFFFFF"/>
                    </a:solidFill>
                  </a:tcPr>
                </a:tc>
              </a:tr>
              <a:tr h="571500">
                <a:tc>
                  <a:txBody>
                    <a:bodyPr/>
                    <a:lstStyle/>
                    <a:p>
                      <a:r>
                        <a:rPr sz="1000">
                          <a:solidFill>
                            <a:srgbClr val="1B2733"/>
                          </a:solidFill>
                        </a:rPr>
                        <a:t>Guardian or contactable party</a:t>
                      </a:r>
                    </a:p>
                  </a:txBody>
                  <a:tcPr marL="54864" marR="54864" marT="9144" marB="9144" anchor="ctr">
                    <a:solidFill>
                      <a:srgbClr val="EEF4FA"/>
                    </a:solidFill>
                  </a:tcPr>
                </a:tc>
                <a:tc>
                  <a:txBody>
                    <a:bodyPr/>
                    <a:lstStyle/>
                    <a:p>
                      <a:r>
                        <a:rPr sz="1000">
                          <a:solidFill>
                            <a:srgbClr val="17568F"/>
                          </a:solidFill>
                          <a:latin typeface="Consolas"/>
                        </a:rPr>
                        <a:t>RelatedPerson</a:t>
                      </a:r>
                      <a:r>
                        <a:rPr sz="1000">
                          <a:solidFill>
                            <a:srgbClr val="1B2733"/>
                          </a:solidFill>
                        </a:rPr>
                        <a:t> / </a:t>
                      </a:r>
                      <a:r>
                        <a:rPr sz="1000">
                          <a:solidFill>
                            <a:srgbClr val="17568F"/>
                          </a:solidFill>
                          <a:latin typeface="Consolas"/>
                        </a:rPr>
                        <a:t>Patient.contact</a:t>
                      </a:r>
                    </a:p>
                  </a:txBody>
                  <a:tcPr marL="54864" marR="54864" marT="9144" marB="9144" anchor="ctr">
                    <a:solidFill>
                      <a:srgbClr val="EEF4FA"/>
                    </a:solidFill>
                  </a:tcPr>
                </a:tc>
              </a:tr>
              <a:tr h="571500">
                <a:tc>
                  <a:txBody>
                    <a:bodyPr/>
                    <a:lstStyle/>
                    <a:p>
                      <a:r>
                        <a:rPr sz="1000">
                          <a:solidFill>
                            <a:srgbClr val="1B2733"/>
                          </a:solidFill>
                        </a:rPr>
                        <a:t>Appointment and visit</a:t>
                      </a:r>
                    </a:p>
                  </a:txBody>
                  <a:tcPr marL="54864" marR="54864" marT="9144" marB="9144" anchor="ctr">
                    <a:solidFill>
                      <a:srgbClr val="FFFFFF"/>
                    </a:solidFill>
                  </a:tcPr>
                </a:tc>
                <a:tc>
                  <a:txBody>
                    <a:bodyPr/>
                    <a:lstStyle/>
                    <a:p>
                      <a:r>
                        <a:rPr sz="1000">
                          <a:solidFill>
                            <a:srgbClr val="17568F"/>
                          </a:solidFill>
                          <a:latin typeface="Consolas"/>
                        </a:rPr>
                        <a:t>Appointment</a:t>
                      </a:r>
                      <a:r>
                        <a:rPr sz="1000">
                          <a:solidFill>
                            <a:srgbClr val="1B2733"/>
                          </a:solidFill>
                        </a:rPr>
                        <a:t> / </a:t>
                      </a:r>
                      <a:r>
                        <a:rPr sz="1000">
                          <a:solidFill>
                            <a:srgbClr val="17568F"/>
                          </a:solidFill>
                          <a:latin typeface="Consolas"/>
                        </a:rPr>
                        <a:t>Encounter</a:t>
                      </a:r>
                    </a:p>
                  </a:txBody>
                  <a:tcPr marL="54864" marR="54864" marT="9144" marB="9144" anchor="ctr">
                    <a:solidFill>
                      <a:srgbClr val="FFFFFF"/>
                    </a:solidFill>
                  </a:tcPr>
                </a:tc>
              </a:tr>
              <a:tr h="571500">
                <a:tc>
                  <a:txBody>
                    <a:bodyPr/>
                    <a:lstStyle/>
                    <a:p>
                      <a:r>
                        <a:rPr sz="1000">
                          <a:solidFill>
                            <a:srgbClr val="1B2733"/>
                          </a:solidFill>
                        </a:rPr>
                        <a:t>Diagnosis and performed care</a:t>
                      </a:r>
                    </a:p>
                  </a:txBody>
                  <a:tcPr marL="54864" marR="54864" marT="9144" marB="9144" anchor="ctr">
                    <a:solidFill>
                      <a:srgbClr val="EEF4FA"/>
                    </a:solidFill>
                  </a:tcPr>
                </a:tc>
                <a:tc>
                  <a:txBody>
                    <a:bodyPr/>
                    <a:lstStyle/>
                    <a:p>
                      <a:r>
                        <a:rPr sz="1000">
                          <a:solidFill>
                            <a:srgbClr val="17568F"/>
                          </a:solidFill>
                          <a:latin typeface="Consolas"/>
                        </a:rPr>
                        <a:t>Condition</a:t>
                      </a:r>
                      <a:r>
                        <a:rPr sz="1000">
                          <a:solidFill>
                            <a:srgbClr val="1B2733"/>
                          </a:solidFill>
                        </a:rPr>
                        <a:t> / </a:t>
                      </a:r>
                      <a:r>
                        <a:rPr sz="1000">
                          <a:solidFill>
                            <a:srgbClr val="17568F"/>
                          </a:solidFill>
                          <a:latin typeface="Consolas"/>
                        </a:rPr>
                        <a:t>Procedure</a:t>
                      </a:r>
                    </a:p>
                  </a:txBody>
                  <a:tcPr marL="54864" marR="54864" marT="9144" marB="9144" anchor="ctr">
                    <a:solidFill>
                      <a:srgbClr val="EEF4FA"/>
                    </a:solidFill>
                  </a:tcPr>
                </a:tc>
              </a:tr>
              <a:tr h="571500">
                <a:tc>
                  <a:txBody>
                    <a:bodyPr/>
                    <a:lstStyle/>
                    <a:p>
                      <a:r>
                        <a:rPr sz="1000">
                          <a:solidFill>
                            <a:srgbClr val="1B2733"/>
                          </a:solidFill>
                        </a:rPr>
                        <a:t>Payer and coverage</a:t>
                      </a:r>
                    </a:p>
                  </a:txBody>
                  <a:tcPr marL="54864" marR="54864" marT="9144" marB="9144" anchor="ctr">
                    <a:solidFill>
                      <a:srgbClr val="FFFFFF"/>
                    </a:solidFill>
                  </a:tcPr>
                </a:tc>
                <a:tc>
                  <a:txBody>
                    <a:bodyPr/>
                    <a:lstStyle/>
                    <a:p>
                      <a:r>
                        <a:rPr sz="1000">
                          <a:solidFill>
                            <a:srgbClr val="17568F"/>
                          </a:solidFill>
                          <a:latin typeface="Consolas"/>
                        </a:rPr>
                        <a:t>Coverage</a:t>
                      </a:r>
                      <a:r>
                        <a:rPr sz="1000">
                          <a:solidFill>
                            <a:srgbClr val="1B2733"/>
                          </a:solidFill>
                        </a:rPr>
                        <a:t> / </a:t>
                      </a:r>
                      <a:r>
                        <a:rPr sz="1000">
                          <a:solidFill>
                            <a:srgbClr val="17568F"/>
                          </a:solidFill>
                          <a:latin typeface="Consolas"/>
                        </a:rPr>
                        <a:t>Organization</a:t>
                      </a:r>
                    </a:p>
                  </a:txBody>
                  <a:tcPr marL="54864" marR="54864" marT="9144" marB="9144" anchor="ctr">
                    <a:solidFill>
                      <a:srgbClr val="FFFFFF"/>
                    </a:solidFill>
                  </a:tcPr>
                </a:tc>
              </a:tr>
              <a:tr h="571500">
                <a:tc>
                  <a:txBody>
                    <a:bodyPr/>
                    <a:lstStyle/>
                    <a:p>
                      <a:r>
                        <a:rPr sz="1000">
                          <a:solidFill>
                            <a:srgbClr val="1B2733"/>
                          </a:solidFill>
                        </a:rPr>
                        <a:t>Clinician and clinic</a:t>
                      </a:r>
                    </a:p>
                  </a:txBody>
                  <a:tcPr marL="54864" marR="54864" marT="9144" marB="9144" anchor="ctr">
                    <a:solidFill>
                      <a:srgbClr val="EEF4FA"/>
                    </a:solidFill>
                  </a:tcPr>
                </a:tc>
                <a:tc>
                  <a:txBody>
                    <a:bodyPr/>
                    <a:lstStyle/>
                    <a:p>
                      <a:r>
                        <a:rPr sz="1000">
                          <a:solidFill>
                            <a:srgbClr val="17568F"/>
                          </a:solidFill>
                          <a:latin typeface="Consolas"/>
                        </a:rPr>
                        <a:t>Practitioner</a:t>
                      </a:r>
                      <a:r>
                        <a:rPr sz="1000">
                          <a:solidFill>
                            <a:srgbClr val="1B2733"/>
                          </a:solidFill>
                        </a:rPr>
                        <a:t> / </a:t>
                      </a:r>
                      <a:r>
                        <a:rPr sz="1000">
                          <a:solidFill>
                            <a:srgbClr val="17568F"/>
                          </a:solidFill>
                          <a:latin typeface="Consolas"/>
                        </a:rPr>
                        <a:t>PractitionerRole</a:t>
                      </a:r>
                      <a:r>
                        <a:rPr sz="1000">
                          <a:solidFill>
                            <a:srgbClr val="1B2733"/>
                          </a:solidFill>
                        </a:rPr>
                        <a:t> / </a:t>
                      </a:r>
                      <a:r>
                        <a:rPr sz="1000">
                          <a:solidFill>
                            <a:srgbClr val="17568F"/>
                          </a:solidFill>
                          <a:latin typeface="Consolas"/>
                        </a:rPr>
                        <a:t>Organization</a:t>
                      </a:r>
                    </a:p>
                  </a:txBody>
                  <a:tcPr marL="54864" marR="54864" marT="9144" marB="9144" anchor="ctr">
                    <a:solidFill>
                      <a:srgbClr val="EEF4FA"/>
                    </a:solidFill>
                  </a:tcPr>
                </a:tc>
              </a:tr>
              <a:tr h="571500">
                <a:tc>
                  <a:txBody>
                    <a:bodyPr/>
                    <a:lstStyle/>
                    <a:p>
                      <a:r>
                        <a:rPr sz="1000">
                          <a:solidFill>
                            <a:srgbClr val="1B2733"/>
                          </a:solidFill>
                        </a:rPr>
                        <a:t>Consent and audit evidence</a:t>
                      </a:r>
                    </a:p>
                  </a:txBody>
                  <a:tcPr marL="54864" marR="54864" marT="9144" marB="9144" anchor="ctr">
                    <a:solidFill>
                      <a:srgbClr val="FFFFFF"/>
                    </a:solidFill>
                  </a:tcPr>
                </a:tc>
                <a:tc>
                  <a:txBody>
                    <a:bodyPr/>
                    <a:lstStyle/>
                    <a:p>
                      <a:r>
                        <a:rPr sz="1000">
                          <a:solidFill>
                            <a:srgbClr val="17568F"/>
                          </a:solidFill>
                          <a:latin typeface="Consolas"/>
                        </a:rPr>
                        <a:t>Consent</a:t>
                      </a:r>
                      <a:r>
                        <a:rPr sz="1000">
                          <a:solidFill>
                            <a:srgbClr val="1B2733"/>
                          </a:solidFill>
                        </a:rPr>
                        <a:t> / </a:t>
                      </a:r>
                      <a:r>
                        <a:rPr sz="1000">
                          <a:solidFill>
                            <a:srgbClr val="17568F"/>
                          </a:solidFill>
                          <a:latin typeface="Consolas"/>
                        </a:rPr>
                        <a:t>AuditEvent</a:t>
                      </a:r>
                    </a:p>
                  </a:txBody>
                  <a:tcPr marL="54864" marR="54864" marT="9144" marB="9144" anchor="ctr">
                    <a:solidFill>
                      <a:srgbClr val="FFFFFF"/>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National adapters &amp; primary references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Potential adapters will materialise country-specific identifiers, profiles, terminology, professional identity, consent, and transport without contaminating the generic core.</a:t>
            </a:r>
          </a:p>
          <a:p>
            <a:pPr>
              <a:spcAft>
                <a:spcPts val="600"/>
              </a:spcAft>
            </a:pPr>
            <a:r>
              <a:rPr sz="1400">
                <a:solidFill>
                  <a:srgbClr val="1B2733"/>
                </a:solidFill>
              </a:rPr>
              <a:t>Legislation and standards: </a:t>
            </a:r>
            <a:r>
              <a:rPr sz="1400">
                <a:solidFill>
                  <a:srgbClr val="1E6FB8"/>
                </a:solidFill>
                <a:hlinkClick r:id="rId2"/>
              </a:rPr>
              <a:t>GDPR</a:t>
            </a:r>
            <a:r>
              <a:rPr sz="1400">
                <a:solidFill>
                  <a:srgbClr val="1B2733"/>
                </a:solidFill>
              </a:rPr>
              <a:t> · </a:t>
            </a:r>
            <a:r>
              <a:rPr sz="1400">
                <a:solidFill>
                  <a:srgbClr val="1E6FB8"/>
                </a:solidFill>
                <a:hlinkClick r:id="rId3"/>
              </a:rPr>
              <a:t>EHDS Regulation</a:t>
            </a:r>
            <a:r>
              <a:rPr sz="1400">
                <a:solidFill>
                  <a:srgbClr val="1B2733"/>
                </a:solidFill>
              </a:rPr>
              <a:t> · </a:t>
            </a:r>
            <a:r>
              <a:rPr sz="1400">
                <a:solidFill>
                  <a:srgbClr val="1E6FB8"/>
                </a:solidFill>
                <a:hlinkClick r:id="rId4"/>
              </a:rPr>
              <a:t>FHIR R4</a:t>
            </a:r>
            <a:r>
              <a:rPr sz="1400">
                <a:solidFill>
                  <a:srgbClr val="1B2733"/>
                </a:solidFill>
              </a:rPr>
              <a:t>. Adapter conformance must be checked against the authoritative version in force for each deployment.</a:t>
            </a:r>
          </a:p>
        </p:txBody>
      </p:sp>
      <p:graphicFrame>
        <p:nvGraphicFramePr>
          <p:cNvPr id="5" name="Table 4"/>
          <p:cNvGraphicFramePr>
            <a:graphicFrameLocks noGrp="1"/>
          </p:cNvGraphicFramePr>
          <p:nvPr/>
        </p:nvGraphicFramePr>
        <p:xfrm>
          <a:off x="502920" y="1783080"/>
          <a:ext cx="11185853" cy="4572000"/>
        </p:xfrm>
        <a:graphic>
          <a:graphicData uri="http://schemas.openxmlformats.org/drawingml/2006/table">
            <a:tbl>
              <a:tblPr firstRow="1" bandRow="1">
                <a:tableStyleId>{5C22544A-7EE6-4342-B048-85BDC9FD1C3A}</a:tableStyleId>
              </a:tblPr>
              <a:tblGrid>
                <a:gridCol w="2908322"/>
                <a:gridCol w="1789736"/>
                <a:gridCol w="6487795"/>
              </a:tblGrid>
              <a:tr h="914400">
                <a:tc>
                  <a:txBody>
                    <a:bodyPr/>
                    <a:lstStyle/>
                    <a:p>
                      <a:r>
                        <a:rPr sz="1000" b="1">
                          <a:solidFill>
                            <a:srgbClr val="FFFFFF"/>
                          </a:solidFill>
                        </a:rPr>
                        <a:t>Market</a:t>
                      </a:r>
                    </a:p>
                  </a:txBody>
                  <a:tcPr marL="54864" marR="54864" marT="9144" marB="9144" anchor="ctr">
                    <a:solidFill>
                      <a:srgbClr val="1E6FB8"/>
                    </a:solidFill>
                  </a:tcPr>
                </a:tc>
                <a:tc>
                  <a:txBody>
                    <a:bodyPr/>
                    <a:lstStyle/>
                    <a:p>
                      <a:r>
                        <a:rPr sz="1000" b="1">
                          <a:solidFill>
                            <a:srgbClr val="FFFFFF"/>
                          </a:solidFill>
                        </a:rPr>
                        <a:t>Discovery target</a:t>
                      </a:r>
                    </a:p>
                  </a:txBody>
                  <a:tcPr marL="54864" marR="54864" marT="9144" marB="9144" anchor="ctr">
                    <a:solidFill>
                      <a:srgbClr val="1E6FB8"/>
                    </a:solidFill>
                  </a:tcPr>
                </a:tc>
                <a:tc>
                  <a:txBody>
                    <a:bodyPr/>
                    <a:lstStyle/>
                    <a:p>
                      <a:r>
                        <a:rPr sz="1000" b="1">
                          <a:solidFill>
                            <a:srgbClr val="FFFFFF"/>
                          </a:solidFill>
                        </a:rPr>
                        <a:t>Primary reference</a:t>
                      </a:r>
                    </a:p>
                  </a:txBody>
                  <a:tcPr marL="54864" marR="54864" marT="9144" marB="9144" anchor="ctr">
                    <a:solidFill>
                      <a:srgbClr val="1E6FB8"/>
                    </a:solidFill>
                  </a:tcPr>
                </a:tc>
              </a:tr>
              <a:tr h="914400">
                <a:tc>
                  <a:txBody>
                    <a:bodyPr/>
                    <a:lstStyle/>
                    <a:p>
                      <a:r>
                        <a:rPr sz="1000">
                          <a:solidFill>
                            <a:srgbClr val="1B2733"/>
                          </a:solidFill>
                        </a:rPr>
                        <a:t>Estonia</a:t>
                      </a:r>
                    </a:p>
                  </a:txBody>
                  <a:tcPr marL="54864" marR="54864" marT="9144" marB="9144" anchor="ctr">
                    <a:solidFill>
                      <a:srgbClr val="FFFFFF"/>
                    </a:solidFill>
                  </a:tcPr>
                </a:tc>
                <a:tc>
                  <a:txBody>
                    <a:bodyPr/>
                    <a:lstStyle/>
                    <a:p>
                      <a:r>
                        <a:rPr sz="1000">
                          <a:solidFill>
                            <a:srgbClr val="1B2733"/>
                          </a:solidFill>
                        </a:rPr>
                        <a:t>TEHIK health information system / upTIS</a:t>
                      </a:r>
                    </a:p>
                  </a:txBody>
                  <a:tcPr marL="54864" marR="54864" marT="9144" marB="9144" anchor="ctr">
                    <a:solidFill>
                      <a:srgbClr val="FFFFFF"/>
                    </a:solidFill>
                  </a:tcPr>
                </a:tc>
                <a:tc>
                  <a:txBody>
                    <a:bodyPr/>
                    <a:lstStyle/>
                    <a:p>
                      <a:r>
                        <a:rPr sz="1000">
                          <a:solidFill>
                            <a:srgbClr val="1E6FB8"/>
                          </a:solidFill>
                          <a:hlinkClick r:id="rId5"/>
                        </a:rPr>
                        <a:t>TEHIK</a:t>
                      </a:r>
                    </a:p>
                  </a:txBody>
                  <a:tcPr marL="54864" marR="54864" marT="9144" marB="9144" anchor="ctr">
                    <a:solidFill>
                      <a:srgbClr val="FFFFFF"/>
                    </a:solidFill>
                  </a:tcPr>
                </a:tc>
              </a:tr>
              <a:tr h="914400">
                <a:tc>
                  <a:txBody>
                    <a:bodyPr/>
                    <a:lstStyle/>
                    <a:p>
                      <a:r>
                        <a:rPr sz="1000">
                          <a:solidFill>
                            <a:srgbClr val="1B2733"/>
                          </a:solidFill>
                        </a:rPr>
                        <a:t>Finland</a:t>
                      </a:r>
                    </a:p>
                  </a:txBody>
                  <a:tcPr marL="54864" marR="54864" marT="9144" marB="9144" anchor="ctr">
                    <a:solidFill>
                      <a:srgbClr val="EEF4FA"/>
                    </a:solidFill>
                  </a:tcPr>
                </a:tc>
                <a:tc>
                  <a:txBody>
                    <a:bodyPr/>
                    <a:lstStyle/>
                    <a:p>
                      <a:r>
                        <a:rPr sz="1000">
                          <a:solidFill>
                            <a:srgbClr val="1B2733"/>
                          </a:solidFill>
                        </a:rPr>
                        <a:t>Kanta FHIR transition and national profiles</a:t>
                      </a:r>
                    </a:p>
                  </a:txBody>
                  <a:tcPr marL="54864" marR="54864" marT="9144" marB="9144" anchor="ctr">
                    <a:solidFill>
                      <a:srgbClr val="EEF4FA"/>
                    </a:solidFill>
                  </a:tcPr>
                </a:tc>
                <a:tc>
                  <a:txBody>
                    <a:bodyPr/>
                    <a:lstStyle/>
                    <a:p>
                      <a:r>
                        <a:rPr sz="1000">
                          <a:solidFill>
                            <a:srgbClr val="1E6FB8"/>
                          </a:solidFill>
                          <a:hlinkClick r:id="rId6"/>
                        </a:rPr>
                        <a:t>Kanta</a:t>
                      </a:r>
                    </a:p>
                  </a:txBody>
                  <a:tcPr marL="54864" marR="54864" marT="9144" marB="9144" anchor="ctr">
                    <a:solidFill>
                      <a:srgbClr val="EEF4FA"/>
                    </a:solidFill>
                  </a:tcPr>
                </a:tc>
              </a:tr>
              <a:tr h="914400">
                <a:tc>
                  <a:txBody>
                    <a:bodyPr/>
                    <a:lstStyle/>
                    <a:p>
                      <a:r>
                        <a:rPr sz="1000">
                          <a:solidFill>
                            <a:srgbClr val="1B2733"/>
                          </a:solidFill>
                        </a:rPr>
                        <a:t>Germany</a:t>
                      </a:r>
                    </a:p>
                  </a:txBody>
                  <a:tcPr marL="54864" marR="54864" marT="9144" marB="9144" anchor="ctr">
                    <a:solidFill>
                      <a:srgbClr val="FFFFFF"/>
                    </a:solidFill>
                  </a:tcPr>
                </a:tc>
                <a:tc>
                  <a:txBody>
                    <a:bodyPr/>
                    <a:lstStyle/>
                    <a:p>
                      <a:r>
                        <a:rPr sz="1000">
                          <a:solidFill>
                            <a:srgbClr val="1B2733"/>
                          </a:solidFill>
                        </a:rPr>
                        <a:t>gematik ePA FHIR implementation guides</a:t>
                      </a:r>
                    </a:p>
                  </a:txBody>
                  <a:tcPr marL="54864" marR="54864" marT="9144" marB="9144" anchor="ctr">
                    <a:solidFill>
                      <a:srgbClr val="FFFFFF"/>
                    </a:solidFill>
                  </a:tcPr>
                </a:tc>
                <a:tc>
                  <a:txBody>
                    <a:bodyPr/>
                    <a:lstStyle/>
                    <a:p>
                      <a:r>
                        <a:rPr sz="1000">
                          <a:solidFill>
                            <a:srgbClr val="1E6FB8"/>
                          </a:solidFill>
                          <a:hlinkClick r:id="rId7"/>
                        </a:rPr>
                        <a:t>gematik</a:t>
                      </a:r>
                    </a:p>
                  </a:txBody>
                  <a:tcPr marL="54864" marR="54864" marT="9144" marB="9144" anchor="ctr">
                    <a:solidFill>
                      <a:srgbClr val="FFFFFF"/>
                    </a:solidFill>
                  </a:tcPr>
                </a:tc>
              </a:tr>
              <a:tr h="914400">
                <a:tc>
                  <a:txBody>
                    <a:bodyPr/>
                    <a:lstStyle/>
                    <a:p>
                      <a:r>
                        <a:rPr sz="1000">
                          <a:solidFill>
                            <a:srgbClr val="1B2733"/>
                          </a:solidFill>
                        </a:rPr>
                        <a:t>Netherlands</a:t>
                      </a:r>
                    </a:p>
                  </a:txBody>
                  <a:tcPr marL="54864" marR="54864" marT="9144" marB="9144" anchor="ctr">
                    <a:solidFill>
                      <a:srgbClr val="EEF4FA"/>
                    </a:solidFill>
                  </a:tcPr>
                </a:tc>
                <a:tc>
                  <a:txBody>
                    <a:bodyPr/>
                    <a:lstStyle/>
                    <a:p>
                      <a:r>
                        <a:rPr sz="1000">
                          <a:solidFill>
                            <a:srgbClr val="1B2733"/>
                          </a:solidFill>
                        </a:rPr>
                        <a:t>Nictiz profiles and MedMij trust framework</a:t>
                      </a:r>
                    </a:p>
                  </a:txBody>
                  <a:tcPr marL="54864" marR="54864" marT="9144" marB="9144" anchor="ctr">
                    <a:solidFill>
                      <a:srgbClr val="EEF4FA"/>
                    </a:solidFill>
                  </a:tcPr>
                </a:tc>
                <a:tc>
                  <a:txBody>
                    <a:bodyPr/>
                    <a:lstStyle/>
                    <a:p>
                      <a:r>
                        <a:rPr sz="1000">
                          <a:solidFill>
                            <a:srgbClr val="1E6FB8"/>
                          </a:solidFill>
                          <a:hlinkClick r:id="rId8"/>
                        </a:rPr>
                        <a:t>Nictiz / MedMij</a:t>
                      </a:r>
                    </a:p>
                  </a:txBody>
                  <a:tcPr marL="54864" marR="54864" marT="9144" marB="9144" anchor="ctr">
                    <a:solidFill>
                      <a:srgbClr val="EEF4FA"/>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06</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Run it every week</a:t>
            </a:r>
          </a:p>
          <a:p>
            <a:pPr>
              <a:spcBef>
                <a:spcPts val="1600"/>
              </a:spcBef>
            </a:pPr>
            <a:r>
              <a:rPr sz="1800">
                <a:solidFill>
                  <a:srgbClr val="D6E6F5"/>
                </a:solidFill>
              </a:rPr>
              <a:t>A short, repeatable operating rhythm turns the dashboards into controlled action and measurable improvement.</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The weekly playbook</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sz="1400">
                <a:solidFill>
                  <a:srgbClr val="1B2733"/>
                </a:solidFill>
              </a:rPr>
              <a:t>• </a:t>
            </a:r>
            <a:r>
              <a:rPr b="1" sz="1400">
                <a:solidFill>
                  <a:srgbClr val="17568F"/>
                </a:solidFill>
              </a:rPr>
              <a:t>See.</a:t>
            </a:r>
            <a:r>
              <a:rPr sz="1400">
                <a:solidFill>
                  <a:srgbClr val="1B2733"/>
                </a:solidFill>
              </a:rPr>
              <a:t> Review Overview, Treatments &amp; Specialties, and availability.</a:t>
            </a:r>
          </a:p>
          <a:p>
            <a:pPr>
              <a:spcAft>
                <a:spcPts val="600"/>
              </a:spcAft>
            </a:pPr>
            <a:r>
              <a:rPr sz="1400">
                <a:solidFill>
                  <a:srgbClr val="1B2733"/>
                </a:solidFill>
              </a:rPr>
              <a:t>• </a:t>
            </a:r>
            <a:r>
              <a:rPr b="1" sz="1400">
                <a:solidFill>
                  <a:srgbClr val="17568F"/>
                </a:solidFill>
              </a:rPr>
              <a:t>Schedule.</a:t>
            </a:r>
            <a:r>
              <a:rPr sz="1400">
                <a:solidFill>
                  <a:srgbClr val="1B2733"/>
                </a:solidFill>
              </a:rPr>
              <a:t> Fill appropriate slots, confirm bookings, and resolve conflicts.</a:t>
            </a:r>
          </a:p>
          <a:p>
            <a:pPr>
              <a:spcAft>
                <a:spcPts val="600"/>
              </a:spcAft>
            </a:pPr>
            <a:r>
              <a:rPr sz="1400">
                <a:solidFill>
                  <a:srgbClr val="1B2733"/>
                </a:solidFill>
              </a:rPr>
              <a:t>• </a:t>
            </a:r>
            <a:r>
              <a:rPr b="1" sz="1400">
                <a:solidFill>
                  <a:srgbClr val="17568F"/>
                </a:solidFill>
              </a:rPr>
              <a:t>Bill.</a:t>
            </a:r>
            <a:r>
              <a:rPr sz="1400">
                <a:solidFill>
                  <a:srgbClr val="1B2733"/>
                </a:solidFill>
              </a:rPr>
              <a:t> Raise invoices, record payments, and check the balanced trial balance.</a:t>
            </a:r>
          </a:p>
          <a:p>
            <a:pPr>
              <a:spcAft>
                <a:spcPts val="600"/>
              </a:spcAft>
            </a:pPr>
            <a:r>
              <a:rPr sz="1400">
                <a:solidFill>
                  <a:srgbClr val="1B2733"/>
                </a:solidFill>
              </a:rPr>
              <a:t>• </a:t>
            </a:r>
            <a:r>
              <a:rPr b="1" sz="1400">
                <a:solidFill>
                  <a:srgbClr val="17568F"/>
                </a:solidFill>
              </a:rPr>
              <a:t>Recall.</a:t>
            </a:r>
            <a:r>
              <a:rPr sz="1400">
                <a:solidFill>
                  <a:srgbClr val="1B2733"/>
                </a:solidFill>
              </a:rPr>
              <a:t> Review due, lapsed, and follow-up cohorts before queuing reminders.</a:t>
            </a:r>
          </a:p>
          <a:p>
            <a:pPr>
              <a:spcAft>
                <a:spcPts val="600"/>
              </a:spcAft>
            </a:pPr>
            <a:r>
              <a:rPr sz="1400">
                <a:solidFill>
                  <a:srgbClr val="1B2733"/>
                </a:solidFill>
              </a:rPr>
              <a:t>• </a:t>
            </a:r>
            <a:r>
              <a:rPr b="1" sz="1400">
                <a:solidFill>
                  <a:srgbClr val="17568F"/>
                </a:solidFill>
              </a:rPr>
              <a:t>Reach.</a:t>
            </a:r>
            <a:r>
              <a:rPr sz="1400">
                <a:solidFill>
                  <a:srgbClr val="1B2733"/>
                </a:solidFill>
              </a:rPr>
              <a:t> Confirm the party, purpose, consent state, and approved channel.</a:t>
            </a:r>
          </a:p>
          <a:p>
            <a:pPr>
              <a:spcAft>
                <a:spcPts val="600"/>
              </a:spcAft>
            </a:pPr>
            <a:r>
              <a:rPr sz="1400">
                <a:solidFill>
                  <a:srgbClr val="1B2733"/>
                </a:solidFill>
              </a:rPr>
              <a:t>• </a:t>
            </a:r>
            <a:r>
              <a:rPr b="1" sz="1400">
                <a:solidFill>
                  <a:srgbClr val="17568F"/>
                </a:solidFill>
              </a:rPr>
              <a:t>Measure.</a:t>
            </a:r>
            <a:r>
              <a:rPr sz="1400">
                <a:solidFill>
                  <a:srgbClr val="1B2733"/>
                </a:solidFill>
              </a:rPr>
              <a:t> Track delivery outcomes, return rate, active patients, and revenue.</a:t>
            </a:r>
          </a:p>
          <a:p>
            <a:pPr>
              <a:spcAft>
                <a:spcPts val="600"/>
              </a:spcAft>
            </a:pPr>
            <a:r>
              <a:rPr sz="1400">
                <a:solidFill>
                  <a:srgbClr val="1B2733"/>
                </a:solidFill>
              </a:rPr>
              <a:t>• </a:t>
            </a:r>
            <a:r>
              <a:rPr b="1" sz="1400">
                <a:solidFill>
                  <a:srgbClr val="17568F"/>
                </a:solidFill>
              </a:rPr>
              <a:t>Improve.</a:t>
            </a:r>
            <a:r>
              <a:rPr sz="1400">
                <a:solidFill>
                  <a:srgbClr val="1B2733"/>
                </a:solidFill>
              </a:rPr>
              <a:t> Review audit evidence, exceptions, and integration failures.</a:t>
            </a:r>
          </a:p>
          <a:p>
            <a:pPr>
              <a:spcAft>
                <a:spcPts val="600"/>
              </a:spcAft>
            </a:pPr>
            <a:r>
              <a:rPr b="1" sz="1400">
                <a:solidFill>
                  <a:srgbClr val="17568F"/>
                </a:solidFill>
              </a:rPr>
              <a:t>The daily question:</a:t>
            </a:r>
            <a:r>
              <a:rPr sz="1400">
                <a:solidFill>
                  <a:srgbClr val="1B2733"/>
                </a:solidFill>
              </a:rPr>
              <a:t> </a:t>
            </a:r>
            <a:r>
              <a:rPr i="1" sz="1400">
                <a:solidFill>
                  <a:srgbClr val="1B2733"/>
                </a:solidFill>
              </a:rPr>
              <a:t>How is the clinic running across every specialty—and what needs attention now?</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E6FB8"/>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Quick reference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b="1" sz="1400">
                <a:solidFill>
                  <a:srgbClr val="17568F"/>
                </a:solidFill>
              </a:rPr>
              <a:t>Current public status:</a:t>
            </a:r>
            <a:r>
              <a:rPr sz="1400">
                <a:solidFill>
                  <a:srgbClr val="1B2733"/>
                </a:solidFill>
              </a:rPr>
              <a:t> open-source operations cockpit, synthetic data only. Production controls, FHIR exchange, certifications, and national-system adapters must be implemented and verified before real health-data use.</a:t>
            </a:r>
          </a:p>
        </p:txBody>
      </p:sp>
      <p:graphicFrame>
        <p:nvGraphicFramePr>
          <p:cNvPr id="5" name="Table 4"/>
          <p:cNvGraphicFramePr>
            <a:graphicFrameLocks noGrp="1"/>
          </p:cNvGraphicFramePr>
          <p:nvPr/>
        </p:nvGraphicFramePr>
        <p:xfrm>
          <a:off x="502920" y="1783080"/>
          <a:ext cx="11185855" cy="4572000"/>
        </p:xfrm>
        <a:graphic>
          <a:graphicData uri="http://schemas.openxmlformats.org/drawingml/2006/table">
            <a:tbl>
              <a:tblPr firstRow="1" bandRow="1">
                <a:tableStyleId>{5C22544A-7EE6-4342-B048-85BDC9FD1C3A}</a:tableStyleId>
              </a:tblPr>
              <a:tblGrid>
                <a:gridCol w="5592927"/>
                <a:gridCol w="5592928"/>
              </a:tblGrid>
              <a:tr h="415636">
                <a:tc>
                  <a:txBody>
                    <a:bodyPr/>
                    <a:lstStyle/>
                    <a:p>
                      <a:r>
                        <a:rPr sz="1000" b="1">
                          <a:solidFill>
                            <a:srgbClr val="FFFFFF"/>
                          </a:solidFill>
                        </a:rPr>
                        <a:t>Need</a:t>
                      </a:r>
                    </a:p>
                  </a:txBody>
                  <a:tcPr marL="54864" marR="54864" marT="9144" marB="9144" anchor="ctr">
                    <a:solidFill>
                      <a:srgbClr val="1E6FB8"/>
                    </a:solidFill>
                  </a:tcPr>
                </a:tc>
                <a:tc>
                  <a:txBody>
                    <a:bodyPr/>
                    <a:lstStyle/>
                    <a:p>
                      <a:r>
                        <a:rPr sz="1000" b="1">
                          <a:solidFill>
                            <a:srgbClr val="FFFFFF"/>
                          </a:solidFill>
                        </a:rPr>
                        <a:t>Go to</a:t>
                      </a:r>
                    </a:p>
                  </a:txBody>
                  <a:tcPr marL="54864" marR="54864" marT="9144" marB="9144" anchor="ctr">
                    <a:solidFill>
                      <a:srgbClr val="1E6FB8"/>
                    </a:solidFill>
                  </a:tcPr>
                </a:tc>
              </a:tr>
              <a:tr h="415636">
                <a:tc>
                  <a:txBody>
                    <a:bodyPr/>
                    <a:lstStyle/>
                    <a:p>
                      <a:r>
                        <a:rPr sz="1000">
                          <a:solidFill>
                            <a:srgbClr val="1B2733"/>
                          </a:solidFill>
                        </a:rPr>
                        <a:t>Clinic scorecard</a:t>
                      </a:r>
                    </a:p>
                  </a:txBody>
                  <a:tcPr marL="54864" marR="54864" marT="9144" marB="9144" anchor="ctr">
                    <a:solidFill>
                      <a:srgbClr val="FFFFFF"/>
                    </a:solidFill>
                  </a:tcPr>
                </a:tc>
                <a:tc>
                  <a:txBody>
                    <a:bodyPr/>
                    <a:lstStyle/>
                    <a:p>
                      <a:r>
                        <a:rPr b="1" sz="1000">
                          <a:solidFill>
                            <a:srgbClr val="17568F"/>
                          </a:solidFill>
                        </a:rPr>
                        <a:t>Overview</a:t>
                      </a:r>
                    </a:p>
                  </a:txBody>
                  <a:tcPr marL="54864" marR="54864" marT="9144" marB="9144" anchor="ctr">
                    <a:solidFill>
                      <a:srgbClr val="FFFFFF"/>
                    </a:solidFill>
                  </a:tcPr>
                </a:tc>
              </a:tr>
              <a:tr h="415636">
                <a:tc>
                  <a:txBody>
                    <a:bodyPr/>
                    <a:lstStyle/>
                    <a:p>
                      <a:r>
                        <a:rPr sz="1000">
                          <a:solidFill>
                            <a:srgbClr val="1B2733"/>
                          </a:solidFill>
                        </a:rPr>
                        <a:t>Case mix and procedures</a:t>
                      </a:r>
                    </a:p>
                  </a:txBody>
                  <a:tcPr marL="54864" marR="54864" marT="9144" marB="9144" anchor="ctr">
                    <a:solidFill>
                      <a:srgbClr val="EEF4FA"/>
                    </a:solidFill>
                  </a:tcPr>
                </a:tc>
                <a:tc>
                  <a:txBody>
                    <a:bodyPr/>
                    <a:lstStyle/>
                    <a:p>
                      <a:r>
                        <a:rPr b="1" sz="1000">
                          <a:solidFill>
                            <a:srgbClr val="17568F"/>
                          </a:solidFill>
                        </a:rPr>
                        <a:t>Treatments &amp; Specialties</a:t>
                      </a:r>
                    </a:p>
                  </a:txBody>
                  <a:tcPr marL="54864" marR="54864" marT="9144" marB="9144" anchor="ctr">
                    <a:solidFill>
                      <a:srgbClr val="EEF4FA"/>
                    </a:solidFill>
                  </a:tcPr>
                </a:tc>
              </a:tr>
              <a:tr h="415636">
                <a:tc>
                  <a:txBody>
                    <a:bodyPr/>
                    <a:lstStyle/>
                    <a:p>
                      <a:r>
                        <a:rPr sz="1000">
                          <a:solidFill>
                            <a:srgbClr val="1B2733"/>
                          </a:solidFill>
                        </a:rPr>
                        <a:t>Availability and booking</a:t>
                      </a:r>
                    </a:p>
                  </a:txBody>
                  <a:tcPr marL="54864" marR="54864" marT="9144" marB="9144" anchor="ctr">
                    <a:solidFill>
                      <a:srgbClr val="FFFFFF"/>
                    </a:solidFill>
                  </a:tcPr>
                </a:tc>
                <a:tc>
                  <a:txBody>
                    <a:bodyPr/>
                    <a:lstStyle/>
                    <a:p>
                      <a:r>
                        <a:rPr b="1" sz="1000">
                          <a:solidFill>
                            <a:srgbClr val="17568F"/>
                          </a:solidFill>
                        </a:rPr>
                        <a:t>Appointments</a:t>
                      </a:r>
                    </a:p>
                  </a:txBody>
                  <a:tcPr marL="54864" marR="54864" marT="9144" marB="9144" anchor="ctr">
                    <a:solidFill>
                      <a:srgbClr val="FFFFFF"/>
                    </a:solidFill>
                  </a:tcPr>
                </a:tc>
              </a:tr>
              <a:tr h="415636">
                <a:tc>
                  <a:txBody>
                    <a:bodyPr/>
                    <a:lstStyle/>
                    <a:p>
                      <a:r>
                        <a:rPr sz="1000">
                          <a:solidFill>
                            <a:srgbClr val="1B2733"/>
                          </a:solidFill>
                        </a:rPr>
                        <a:t>Subject, party, and care history</a:t>
                      </a:r>
                    </a:p>
                  </a:txBody>
                  <a:tcPr marL="54864" marR="54864" marT="9144" marB="9144" anchor="ctr">
                    <a:solidFill>
                      <a:srgbClr val="EEF4FA"/>
                    </a:solidFill>
                  </a:tcPr>
                </a:tc>
                <a:tc>
                  <a:txBody>
                    <a:bodyPr/>
                    <a:lstStyle/>
                    <a:p>
                      <a:r>
                        <a:rPr b="1" sz="1000">
                          <a:solidFill>
                            <a:srgbClr val="17568F"/>
                          </a:solidFill>
                        </a:rPr>
                        <a:t>Patients</a:t>
                      </a:r>
                    </a:p>
                  </a:txBody>
                  <a:tcPr marL="54864" marR="54864" marT="9144" marB="9144" anchor="ctr">
                    <a:solidFill>
                      <a:srgbClr val="EEF4FA"/>
                    </a:solidFill>
                  </a:tcPr>
                </a:tc>
              </a:tr>
              <a:tr h="415636">
                <a:tc>
                  <a:txBody>
                    <a:bodyPr/>
                    <a:lstStyle/>
                    <a:p>
                      <a:r>
                        <a:rPr sz="1000">
                          <a:solidFill>
                            <a:srgbClr val="1B2733"/>
                          </a:solidFill>
                        </a:rPr>
                        <a:t>Invoices, payments, and ledger</a:t>
                      </a:r>
                    </a:p>
                  </a:txBody>
                  <a:tcPr marL="54864" marR="54864" marT="9144" marB="9144" anchor="ctr">
                    <a:solidFill>
                      <a:srgbClr val="FFFFFF"/>
                    </a:solidFill>
                  </a:tcPr>
                </a:tc>
                <a:tc>
                  <a:txBody>
                    <a:bodyPr/>
                    <a:lstStyle/>
                    <a:p>
                      <a:r>
                        <a:rPr b="1" sz="1000">
                          <a:solidFill>
                            <a:srgbClr val="17568F"/>
                          </a:solidFill>
                        </a:rPr>
                        <a:t>Billing</a:t>
                      </a:r>
                    </a:p>
                  </a:txBody>
                  <a:tcPr marL="54864" marR="54864" marT="9144" marB="9144" anchor="ctr">
                    <a:solidFill>
                      <a:srgbClr val="FFFFFF"/>
                    </a:solidFill>
                  </a:tcPr>
                </a:tc>
              </a:tr>
              <a:tr h="415636">
                <a:tc>
                  <a:txBody>
                    <a:bodyPr/>
                    <a:lstStyle/>
                    <a:p>
                      <a:r>
                        <a:rPr sz="1000">
                          <a:solidFill>
                            <a:srgbClr val="1B2733"/>
                          </a:solidFill>
                        </a:rPr>
                        <a:t>Due, lapsed, and recent-visit cohorts</a:t>
                      </a:r>
                    </a:p>
                  </a:txBody>
                  <a:tcPr marL="54864" marR="54864" marT="9144" marB="9144" anchor="ctr">
                    <a:solidFill>
                      <a:srgbClr val="EEF4FA"/>
                    </a:solidFill>
                  </a:tcPr>
                </a:tc>
                <a:tc>
                  <a:txBody>
                    <a:bodyPr/>
                    <a:lstStyle/>
                    <a:p>
                      <a:r>
                        <a:rPr b="1" sz="1000">
                          <a:solidFill>
                            <a:srgbClr val="17568F"/>
                          </a:solidFill>
                        </a:rPr>
                        <a:t>Recall &amp; Scheduling</a:t>
                      </a:r>
                    </a:p>
                  </a:txBody>
                  <a:tcPr marL="54864" marR="54864" marT="9144" marB="9144" anchor="ctr">
                    <a:solidFill>
                      <a:srgbClr val="EEF4FA"/>
                    </a:solidFill>
                  </a:tcPr>
                </a:tc>
              </a:tr>
              <a:tr h="415636">
                <a:tc>
                  <a:txBody>
                    <a:bodyPr/>
                    <a:lstStyle/>
                    <a:p>
                      <a:r>
                        <a:rPr sz="1000">
                          <a:solidFill>
                            <a:srgbClr val="1B2733"/>
                          </a:solidFill>
                        </a:rPr>
                        <a:t>Delivery status and return rate</a:t>
                      </a:r>
                    </a:p>
                  </a:txBody>
                  <a:tcPr marL="54864" marR="54864" marT="9144" marB="9144" anchor="ctr">
                    <a:solidFill>
                      <a:srgbClr val="FFFFFF"/>
                    </a:solidFill>
                  </a:tcPr>
                </a:tc>
                <a:tc>
                  <a:txBody>
                    <a:bodyPr/>
                    <a:lstStyle/>
                    <a:p>
                      <a:r>
                        <a:rPr b="1" sz="1000">
                          <a:solidFill>
                            <a:srgbClr val="17568F"/>
                          </a:solidFill>
                        </a:rPr>
                        <a:t>Recall Loop</a:t>
                      </a:r>
                    </a:p>
                  </a:txBody>
                  <a:tcPr marL="54864" marR="54864" marT="9144" marB="9144" anchor="ctr">
                    <a:solidFill>
                      <a:srgbClr val="FFFFFF"/>
                    </a:solidFill>
                  </a:tcPr>
                </a:tc>
              </a:tr>
              <a:tr h="415636">
                <a:tc>
                  <a:txBody>
                    <a:bodyPr/>
                    <a:lstStyle/>
                    <a:p>
                      <a:r>
                        <a:rPr sz="1000">
                          <a:solidFill>
                            <a:srgbClr val="1B2733"/>
                          </a:solidFill>
                        </a:rPr>
                        <a:t>Operational questions</a:t>
                      </a:r>
                    </a:p>
                  </a:txBody>
                  <a:tcPr marL="54864" marR="54864" marT="9144" marB="9144" anchor="ctr">
                    <a:solidFill>
                      <a:srgbClr val="EEF4FA"/>
                    </a:solidFill>
                  </a:tcPr>
                </a:tc>
                <a:tc>
                  <a:txBody>
                    <a:bodyPr/>
                    <a:lstStyle/>
                    <a:p>
                      <a:r>
                        <a:rPr b="1" sz="1000">
                          <a:solidFill>
                            <a:srgbClr val="17568F"/>
                          </a:solidFill>
                        </a:rPr>
                        <a:t>Copilot / AI Assistant</a:t>
                      </a:r>
                    </a:p>
                  </a:txBody>
                  <a:tcPr marL="54864" marR="54864" marT="9144" marB="9144" anchor="ctr">
                    <a:solidFill>
                      <a:srgbClr val="EEF4FA"/>
                    </a:solidFill>
                  </a:tcPr>
                </a:tc>
              </a:tr>
              <a:tr h="415636">
                <a:tc>
                  <a:txBody>
                    <a:bodyPr/>
                    <a:lstStyle/>
                    <a:p>
                      <a:r>
                        <a:rPr sz="1000">
                          <a:solidFill>
                            <a:srgbClr val="1B2733"/>
                          </a:solidFill>
                        </a:rPr>
                        <a:t>API schema and examples</a:t>
                      </a:r>
                    </a:p>
                  </a:txBody>
                  <a:tcPr marL="54864" marR="54864" marT="9144" marB="9144" anchor="ctr">
                    <a:solidFill>
                      <a:srgbClr val="FFFFFF"/>
                    </a:solidFill>
                  </a:tcPr>
                </a:tc>
                <a:tc>
                  <a:txBody>
                    <a:bodyPr/>
                    <a:lstStyle/>
                    <a:p>
                      <a:r>
                        <a:rPr b="1" sz="1000">
                          <a:solidFill>
                            <a:srgbClr val="17568F"/>
                          </a:solidFill>
                        </a:rPr>
                        <a:t>fastclinic.dev/developers</a:t>
                      </a:r>
                    </a:p>
                  </a:txBody>
                  <a:tcPr marL="54864" marR="54864" marT="9144" marB="9144" anchor="ctr">
                    <a:solidFill>
                      <a:srgbClr val="FFFFFF"/>
                    </a:solidFill>
                  </a:tcPr>
                </a:tc>
              </a:tr>
              <a:tr h="415640">
                <a:tc>
                  <a:txBody>
                    <a:bodyPr/>
                    <a:lstStyle/>
                    <a:p>
                      <a:r>
                        <a:rPr sz="1000">
                          <a:solidFill>
                            <a:srgbClr val="1B2733"/>
                          </a:solidFill>
                        </a:rPr>
                        <a:t>Trust statement and roadmap</a:t>
                      </a:r>
                    </a:p>
                  </a:txBody>
                  <a:tcPr marL="54864" marR="54864" marT="9144" marB="9144" anchor="ctr">
                    <a:solidFill>
                      <a:srgbClr val="EEF4FA"/>
                    </a:solidFill>
                  </a:tcPr>
                </a:tc>
                <a:tc>
                  <a:txBody>
                    <a:bodyPr/>
                    <a:lstStyle/>
                    <a:p>
                      <a:r>
                        <a:rPr b="1" sz="1000">
                          <a:solidFill>
                            <a:srgbClr val="17568F"/>
                          </a:solidFill>
                        </a:rPr>
                        <a:t>fastclinic.dev/compliance</a:t>
                      </a:r>
                    </a:p>
                  </a:txBody>
                  <a:tcPr marL="54864" marR="54864" marT="9144" marB="9144" anchor="ctr">
                    <a:solidFill>
                      <a:srgbClr val="EEF4FA"/>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FastClinic · Modern clinical care, made personal · v0.1.0 · 2026-08-14 · fastclinic.dev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